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ATOX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49808"/>
            <a:ext cx="10927080" cy="0"/>
          </a:xfrm>
          <a:prstGeom prst="line">
            <a:avLst/>
          </a:prstGeom>
          <a:noFill/>
          <a:ln w="15240">
            <a:solidFill>
              <a:srgbClr val="2B5C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7395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MINUTA EXECUTIVA – sujeita à validação técnica, jurídica e orçamentária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640080" y="6391656"/>
            <a:ext cx="10927080" cy="0"/>
          </a:xfrm>
          <a:prstGeom prst="line">
            <a:avLst/>
          </a:prstGeom>
          <a:noFill/>
          <a:ln w="10160">
            <a:solidFill>
              <a:srgbClr val="D9E2E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2823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6F6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2823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6F6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es_mt_logo_t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9728"/>
            <a:ext cx="2057400" cy="566928"/>
          </a:xfrm>
          <a:prstGeom prst="rect">
            <a:avLst/>
          </a:prstGeom>
        </p:spPr>
      </p:pic>
      <p:pic>
        <p:nvPicPr>
          <p:cNvPr id="3" name="Image 1" descr="/mnt/data/cievs_mt_logo_t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55448"/>
            <a:ext cx="1691640" cy="4572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074920" y="118872"/>
            <a:ext cx="393192" cy="39319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5230368" y="187452"/>
            <a:ext cx="8229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5143500" y="274320"/>
            <a:ext cx="256032" cy="822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 rot="720000">
            <a:off x="5468112" y="146304"/>
            <a:ext cx="420624" cy="393192"/>
          </a:xfrm>
          <a:prstGeom prst="arc">
            <a:avLst/>
          </a:prstGeom>
          <a:solidFill>
            <a:srgbClr val="FFFFFF">
              <a:alpha val="0"/>
            </a:srgbClr>
          </a:solidFill>
          <a:ln w="27940">
            <a:solidFill>
              <a:srgbClr val="5B9B3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532120" y="12801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CIATox-MT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5532120" y="393192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90" kern="0" dirty="0">
                <a:solidFill>
                  <a:srgbClr val="5B9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TOXICOLOGIA • VIGILÂNCIA • RESPOSTA</a:t>
            </a:r>
            <a:endParaRPr lang="en-US" sz="680" dirty="0"/>
          </a:p>
        </p:txBody>
      </p:sp>
      <p:sp>
        <p:nvSpPr>
          <p:cNvPr id="10" name="Text 6"/>
          <p:cNvSpPr/>
          <p:nvPr/>
        </p:nvSpPr>
        <p:spPr>
          <a:xfrm>
            <a:off x="731520" y="126187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CIATox-MT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914400" y="1810512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 Estadual de Informação, Assistência Toxicológica e Toxicovigilância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1371600" y="2514600"/>
            <a:ext cx="941832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5E6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estratégica para cobertura estadual 24/7, regionalizada pelos Escritórios Regionais de Saúde e integrada à RUE, Vigilância em Saúde, Lacen e Assistência Farmacêutica.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1234440" y="3547872"/>
            <a:ext cx="3017520" cy="1170432"/>
          </a:xfrm>
          <a:prstGeom prst="roundRect">
            <a:avLst>
              <a:gd name="adj" fmla="val 6250"/>
            </a:avLst>
          </a:prstGeom>
          <a:solidFill>
            <a:srgbClr val="EEF5FA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481328" y="3767328"/>
            <a:ext cx="2514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4E79"/>
                </a:solidFill>
              </a:rPr>
              <a:t>NOVA JANELA FEDERAL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1417320" y="407822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3"/>
                </a:solidFill>
              </a:rPr>
              <a:t>Portaria GM/MS nº 12.151/2026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4599432" y="3547872"/>
            <a:ext cx="3017520" cy="1170432"/>
          </a:xfrm>
          <a:prstGeom prst="roundRect">
            <a:avLst>
              <a:gd name="adj" fmla="val 6250"/>
            </a:avLst>
          </a:prstGeom>
          <a:solidFill>
            <a:srgbClr val="EAF4E6"/>
          </a:solidFill>
          <a:ln w="12700">
            <a:solidFill>
              <a:srgbClr val="5B9B3D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846320" y="3767328"/>
            <a:ext cx="2514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B9B3D"/>
                </a:solidFill>
              </a:rPr>
              <a:t>REDE TERRITORIAL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4791456" y="4078224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3"/>
                </a:solidFill>
              </a:rPr>
              <a:t>ERS como nós regionais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7973568" y="3547872"/>
            <a:ext cx="3017520" cy="1170432"/>
          </a:xfrm>
          <a:prstGeom prst="roundRect">
            <a:avLst>
              <a:gd name="adj" fmla="val 6250"/>
            </a:avLst>
          </a:prstGeom>
          <a:solidFill>
            <a:srgbClr val="FBEEDD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202168" y="3767328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67E22"/>
                </a:solidFill>
              </a:rPr>
              <a:t>POTENCIAL FEDERAL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8183880" y="404164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2933"/>
                </a:solidFill>
              </a:rPr>
              <a:t>≈ R$ 2,8 milhões/ano*</a:t>
            </a:r>
            <a:endParaRPr lang="en-US" sz="1900" dirty="0"/>
          </a:p>
        </p:txBody>
      </p:sp>
      <p:sp>
        <p:nvSpPr>
          <p:cNvPr id="22" name="Text 18"/>
          <p:cNvSpPr/>
          <p:nvPr/>
        </p:nvSpPr>
        <p:spPr>
          <a:xfrm>
            <a:off x="1280160" y="5010912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E6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*Simulação preliminar, condicionada à habilitação, qualificação, critérios do MS e disponibilidade orçamentária.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4480560" y="56509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66D"/>
                </a:solidFill>
              </a:rPr>
              <a:t>Cuiabá – MT | 2026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685800" y="6181344"/>
            <a:ext cx="10149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i="1" dirty="0">
                <a:solidFill>
                  <a:srgbClr val="7884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normativa: Portaria GM/MS nº 12.151, de 14 de setembro de 2026.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2823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6F6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es_mt_logo_t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9728"/>
            <a:ext cx="2057400" cy="566928"/>
          </a:xfrm>
          <a:prstGeom prst="rect">
            <a:avLst/>
          </a:prstGeom>
        </p:spPr>
      </p:pic>
      <p:pic>
        <p:nvPicPr>
          <p:cNvPr id="3" name="Image 1" descr="/mnt/data/cievs_mt_logo_t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55448"/>
            <a:ext cx="1691640" cy="4572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074920" y="118872"/>
            <a:ext cx="393192" cy="39319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5230368" y="187452"/>
            <a:ext cx="8229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5143500" y="274320"/>
            <a:ext cx="256032" cy="822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 rot="720000">
            <a:off x="5468112" y="146304"/>
            <a:ext cx="420624" cy="393192"/>
          </a:xfrm>
          <a:prstGeom prst="arc">
            <a:avLst/>
          </a:prstGeom>
          <a:solidFill>
            <a:srgbClr val="FFFFFF">
              <a:alpha val="0"/>
            </a:srgbClr>
          </a:solidFill>
          <a:ln w="27940">
            <a:solidFill>
              <a:srgbClr val="5B9B3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532120" y="12801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CIATox-MT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5532120" y="393192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90" kern="0" dirty="0">
                <a:solidFill>
                  <a:srgbClr val="5B9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TOXICOLOGIA • VIGILÂNCIA • RESPOSTA</a:t>
            </a:r>
            <a:endParaRPr lang="en-US" sz="680" dirty="0"/>
          </a:p>
        </p:txBody>
      </p:sp>
      <p:sp>
        <p:nvSpPr>
          <p:cNvPr id="10" name="Text 6"/>
          <p:cNvSpPr/>
          <p:nvPr/>
        </p:nvSpPr>
        <p:spPr>
          <a:xfrm>
            <a:off x="685800" y="94183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Por que este projeto deve ser avaliado agora?</a:t>
            </a:r>
            <a:endParaRPr lang="en-US" sz="2500" dirty="0"/>
          </a:p>
        </p:txBody>
      </p:sp>
      <p:sp>
        <p:nvSpPr>
          <p:cNvPr id="11" name="Text 7"/>
          <p:cNvSpPr/>
          <p:nvPr/>
        </p:nvSpPr>
        <p:spPr>
          <a:xfrm>
            <a:off x="685800" y="1389888"/>
            <a:ext cx="10744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Portaria nº 12.151/2026 altera o lugar dos CIATox dentro do SUS e cria instrumentos de financiamento.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731520" y="1993392"/>
            <a:ext cx="2148840" cy="246888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1444752" y="2176272"/>
            <a:ext cx="713232" cy="71323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444752" y="2295144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896112" y="3127248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</a:rPr>
              <a:t>ESTABELECIMENTO DO SUS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914400" y="3675888"/>
            <a:ext cx="178308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1F2933"/>
                </a:solidFill>
              </a:rPr>
              <a:t>Integração formal à RUE, Vigilância em Saúde e Assistência Farmacêutica.</a:t>
            </a:r>
            <a:endParaRPr lang="en-US" sz="1080" dirty="0"/>
          </a:p>
        </p:txBody>
      </p:sp>
      <p:sp>
        <p:nvSpPr>
          <p:cNvPr id="17" name="Shape 13"/>
          <p:cNvSpPr/>
          <p:nvPr/>
        </p:nvSpPr>
        <p:spPr>
          <a:xfrm>
            <a:off x="3611880" y="1993392"/>
            <a:ext cx="2148840" cy="2468880"/>
          </a:xfrm>
          <a:prstGeom prst="roundRect">
            <a:avLst>
              <a:gd name="adj" fmla="val 3404"/>
            </a:avLst>
          </a:prstGeom>
          <a:solidFill>
            <a:srgbClr val="EEF5FA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325112" y="2176272"/>
            <a:ext cx="713232" cy="71323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325112" y="2295144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3776472" y="3127248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</a:rPr>
              <a:t>24 HORAS / 7 DIAS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3794760" y="3675888"/>
            <a:ext cx="178308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1F2933"/>
                </a:solidFill>
              </a:rPr>
              <a:t>Plantão permanente, teleconsultoria e/ou atendimento presencial.</a:t>
            </a:r>
            <a:endParaRPr lang="en-US" sz="1080" dirty="0"/>
          </a:p>
        </p:txBody>
      </p:sp>
      <p:sp>
        <p:nvSpPr>
          <p:cNvPr id="22" name="Shape 18"/>
          <p:cNvSpPr/>
          <p:nvPr/>
        </p:nvSpPr>
        <p:spPr>
          <a:xfrm>
            <a:off x="6492240" y="1993392"/>
            <a:ext cx="2148840" cy="246888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205472" y="2176272"/>
            <a:ext cx="713232" cy="713232"/>
          </a:xfrm>
          <a:prstGeom prst="ellipse">
            <a:avLst/>
          </a:prstGeom>
          <a:solidFill>
            <a:srgbClr val="5B9B3D"/>
          </a:solidFill>
          <a:ln w="12700">
            <a:solidFill>
              <a:srgbClr val="5B9B3D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205472" y="2295144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5" name="Text 21"/>
          <p:cNvSpPr/>
          <p:nvPr/>
        </p:nvSpPr>
        <p:spPr>
          <a:xfrm>
            <a:off x="6656832" y="3127248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</a:rPr>
              <a:t>COBERTURA ESTADUAL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6675120" y="3675888"/>
            <a:ext cx="178308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1F2933"/>
                </a:solidFill>
              </a:rPr>
              <a:t>A norma recomenda pelo menos um CIATox por UF e orienta cobertura populacional total.</a:t>
            </a:r>
            <a:endParaRPr lang="en-US" sz="1080" dirty="0"/>
          </a:p>
        </p:txBody>
      </p:sp>
      <p:sp>
        <p:nvSpPr>
          <p:cNvPr id="27" name="Shape 23"/>
          <p:cNvSpPr/>
          <p:nvPr/>
        </p:nvSpPr>
        <p:spPr>
          <a:xfrm>
            <a:off x="9372600" y="1993392"/>
            <a:ext cx="2148840" cy="2468880"/>
          </a:xfrm>
          <a:prstGeom prst="roundRect">
            <a:avLst>
              <a:gd name="adj" fmla="val 3404"/>
            </a:avLst>
          </a:prstGeom>
          <a:solidFill>
            <a:srgbClr val="EEF5FA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10085832" y="2176272"/>
            <a:ext cx="713232" cy="713232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0085832" y="2295144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30" name="Text 26"/>
          <p:cNvSpPr/>
          <p:nvPr/>
        </p:nvSpPr>
        <p:spPr>
          <a:xfrm>
            <a:off x="9537192" y="3127248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</a:rPr>
              <a:t>FINANCIAMENTO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9555480" y="3675888"/>
            <a:ext cx="178308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1F2933"/>
                </a:solidFill>
              </a:rPr>
              <a:t>Custeio mensal, qualificação e incentivo de investimento para novos centros.</a:t>
            </a:r>
            <a:endParaRPr lang="en-US" sz="1080" dirty="0"/>
          </a:p>
        </p:txBody>
      </p:sp>
      <p:sp>
        <p:nvSpPr>
          <p:cNvPr id="32" name="Shape 28"/>
          <p:cNvSpPr/>
          <p:nvPr/>
        </p:nvSpPr>
        <p:spPr>
          <a:xfrm>
            <a:off x="1234440" y="4846320"/>
            <a:ext cx="9738360" cy="841248"/>
          </a:xfrm>
          <a:prstGeom prst="roundRect">
            <a:avLst>
              <a:gd name="adj" fmla="val 8696"/>
            </a:avLst>
          </a:prstGeom>
          <a:solidFill>
            <a:srgbClr val="F7FAF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508760" y="5074920"/>
            <a:ext cx="9189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</a:rPr>
              <a:t>Mensagem estratégica: não se trata apenas de criar um serviço físico. Trata-se de organizar uma REDE ESTADUAL de toxicologia clínica, toxicovigilância, antídotos e resposta a emergências.</a:t>
            </a:r>
            <a:endParaRPr lang="en-US" sz="1400" dirty="0"/>
          </a:p>
        </p:txBody>
      </p:sp>
      <p:sp>
        <p:nvSpPr>
          <p:cNvPr id="34" name="Text 30"/>
          <p:cNvSpPr/>
          <p:nvPr/>
        </p:nvSpPr>
        <p:spPr>
          <a:xfrm>
            <a:off x="685800" y="6181344"/>
            <a:ext cx="10149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i="1" dirty="0">
                <a:solidFill>
                  <a:srgbClr val="7884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Portaria GM/MS nº 12.151/2026, arts. 12-A, 122, 125-A, 973-F e 973-L.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2823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6F6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es_mt_logo_t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9728"/>
            <a:ext cx="2057400" cy="566928"/>
          </a:xfrm>
          <a:prstGeom prst="rect">
            <a:avLst/>
          </a:prstGeom>
        </p:spPr>
      </p:pic>
      <p:pic>
        <p:nvPicPr>
          <p:cNvPr id="3" name="Image 1" descr="/mnt/data/cievs_mt_logo_t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55448"/>
            <a:ext cx="1691640" cy="4572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074920" y="118872"/>
            <a:ext cx="393192" cy="39319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5230368" y="187452"/>
            <a:ext cx="8229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5143500" y="274320"/>
            <a:ext cx="256032" cy="822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 rot="720000">
            <a:off x="5468112" y="146304"/>
            <a:ext cx="420624" cy="393192"/>
          </a:xfrm>
          <a:prstGeom prst="arc">
            <a:avLst/>
          </a:prstGeom>
          <a:solidFill>
            <a:srgbClr val="FFFFFF">
              <a:alpha val="0"/>
            </a:srgbClr>
          </a:solidFill>
          <a:ln w="27940">
            <a:solidFill>
              <a:srgbClr val="5B9B3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532120" y="12801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CIATox-MT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5532120" y="393192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90" kern="0" dirty="0">
                <a:solidFill>
                  <a:srgbClr val="5B9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TOXICOLOGIA • VIGILÂNCIA • RESPOSTA</a:t>
            </a:r>
            <a:endParaRPr lang="en-US" sz="680" dirty="0"/>
          </a:p>
        </p:txBody>
      </p:sp>
      <p:sp>
        <p:nvSpPr>
          <p:cNvPr id="10" name="Text 6"/>
          <p:cNvSpPr/>
          <p:nvPr/>
        </p:nvSpPr>
        <p:spPr>
          <a:xfrm>
            <a:off x="685800" y="94183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Oportunidade para Mato Grosso</a:t>
            </a:r>
            <a:endParaRPr lang="en-US" sz="2500" dirty="0"/>
          </a:p>
        </p:txBody>
      </p:sp>
      <p:sp>
        <p:nvSpPr>
          <p:cNvPr id="11" name="Text 7"/>
          <p:cNvSpPr/>
          <p:nvPr/>
        </p:nvSpPr>
        <p:spPr>
          <a:xfrm>
            <a:off x="685800" y="1389888"/>
            <a:ext cx="10744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Centralizar a expertise e descentralizar a capacidade de resposta.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777240" y="192024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EEF5FA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41832" y="2084832"/>
            <a:ext cx="2093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142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941832" y="2633472"/>
            <a:ext cx="209397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municípios a serem cobertos por uma rede estadual articulada</a:t>
            </a:r>
            <a:endParaRPr lang="en-US" sz="1120" dirty="0"/>
          </a:p>
        </p:txBody>
      </p:sp>
      <p:sp>
        <p:nvSpPr>
          <p:cNvPr id="15" name="Shape 11"/>
          <p:cNvSpPr/>
          <p:nvPr/>
        </p:nvSpPr>
        <p:spPr>
          <a:xfrm>
            <a:off x="3410712" y="192024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EAF4E6"/>
          </a:solidFill>
          <a:ln w="15240">
            <a:solidFill>
              <a:srgbClr val="5B9B3D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575304" y="2084832"/>
            <a:ext cx="2093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9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</a:t>
            </a:r>
            <a:endParaRPr lang="en-US" sz="2600" dirty="0"/>
          </a:p>
        </p:txBody>
      </p:sp>
      <p:sp>
        <p:nvSpPr>
          <p:cNvPr id="17" name="Text 13"/>
          <p:cNvSpPr/>
          <p:nvPr/>
        </p:nvSpPr>
        <p:spPr>
          <a:xfrm>
            <a:off x="3575304" y="2633472"/>
            <a:ext cx="209397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suporte especializado por teleconsultoria e fluxos regionais</a:t>
            </a:r>
            <a:endParaRPr lang="en-US" sz="1120" dirty="0"/>
          </a:p>
        </p:txBody>
      </p:sp>
      <p:sp>
        <p:nvSpPr>
          <p:cNvPr id="18" name="Shape 14"/>
          <p:cNvSpPr/>
          <p:nvPr/>
        </p:nvSpPr>
        <p:spPr>
          <a:xfrm>
            <a:off x="6044184" y="192024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EEF5FA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208776" y="2084832"/>
            <a:ext cx="2093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ERS</a:t>
            </a:r>
            <a:endParaRPr lang="en-US" sz="2600" dirty="0"/>
          </a:p>
        </p:txBody>
      </p:sp>
      <p:sp>
        <p:nvSpPr>
          <p:cNvPr id="20" name="Text 16"/>
          <p:cNvSpPr/>
          <p:nvPr/>
        </p:nvSpPr>
        <p:spPr>
          <a:xfrm>
            <a:off x="6208776" y="2633472"/>
            <a:ext cx="209397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nós territoriais de articulação, monitoramento e resposta</a:t>
            </a:r>
            <a:endParaRPr lang="en-US" sz="1120" dirty="0"/>
          </a:p>
        </p:txBody>
      </p:sp>
      <p:sp>
        <p:nvSpPr>
          <p:cNvPr id="21" name="Shape 17"/>
          <p:cNvSpPr/>
          <p:nvPr/>
        </p:nvSpPr>
        <p:spPr>
          <a:xfrm>
            <a:off x="8677656" y="192024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FBEEDD"/>
          </a:solidFill>
          <a:ln w="15240">
            <a:solidFill>
              <a:srgbClr val="E67E22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842248" y="2084832"/>
            <a:ext cx="2093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REDE</a:t>
            </a:r>
            <a:endParaRPr lang="en-US" sz="2600" dirty="0"/>
          </a:p>
        </p:txBody>
      </p:sp>
      <p:sp>
        <p:nvSpPr>
          <p:cNvPr id="23" name="Text 19"/>
          <p:cNvSpPr/>
          <p:nvPr/>
        </p:nvSpPr>
        <p:spPr>
          <a:xfrm>
            <a:off x="8842248" y="2633472"/>
            <a:ext cx="209397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CIATox + CIEVS + Lacen + RUE + AF + Regulação + hospitais</a:t>
            </a:r>
            <a:endParaRPr lang="en-US" sz="1120" dirty="0"/>
          </a:p>
        </p:txBody>
      </p:sp>
      <p:sp>
        <p:nvSpPr>
          <p:cNvPr id="24" name="Shape 20"/>
          <p:cNvSpPr/>
          <p:nvPr/>
        </p:nvSpPr>
        <p:spPr>
          <a:xfrm>
            <a:off x="822960" y="3776472"/>
            <a:ext cx="103327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1051560" y="39867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Ativos que o Estado já possui e pode integrar como contrapartida estruturante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941832" y="4526280"/>
            <a:ext cx="1600200" cy="438912"/>
          </a:xfrm>
          <a:prstGeom prst="roundRect">
            <a:avLst>
              <a:gd name="adj" fmla="val 16667"/>
            </a:avLst>
          </a:prstGeom>
          <a:solidFill>
            <a:srgbClr val="F7FAF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996696" y="4654296"/>
            <a:ext cx="1490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F2933"/>
                </a:solidFill>
              </a:rPr>
              <a:t>Escritórios Regionais</a:t>
            </a:r>
            <a:endParaRPr lang="en-US" sz="980" dirty="0"/>
          </a:p>
        </p:txBody>
      </p:sp>
      <p:sp>
        <p:nvSpPr>
          <p:cNvPr id="28" name="Shape 24"/>
          <p:cNvSpPr/>
          <p:nvPr/>
        </p:nvSpPr>
        <p:spPr>
          <a:xfrm>
            <a:off x="2651760" y="4526280"/>
            <a:ext cx="1234440" cy="438912"/>
          </a:xfrm>
          <a:prstGeom prst="roundRect">
            <a:avLst>
              <a:gd name="adj" fmla="val 16667"/>
            </a:avLst>
          </a:prstGeom>
          <a:solidFill>
            <a:srgbClr val="EEF5FA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2706624" y="4654296"/>
            <a:ext cx="11247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F2933"/>
                </a:solidFill>
              </a:rPr>
              <a:t>CIEVS-MT</a:t>
            </a:r>
            <a:endParaRPr lang="en-US" sz="980" dirty="0"/>
          </a:p>
        </p:txBody>
      </p:sp>
      <p:sp>
        <p:nvSpPr>
          <p:cNvPr id="30" name="Shape 26"/>
          <p:cNvSpPr/>
          <p:nvPr/>
        </p:nvSpPr>
        <p:spPr>
          <a:xfrm>
            <a:off x="3995928" y="4526280"/>
            <a:ext cx="1234440" cy="438912"/>
          </a:xfrm>
          <a:prstGeom prst="roundRect">
            <a:avLst>
              <a:gd name="adj" fmla="val 16667"/>
            </a:avLst>
          </a:prstGeom>
          <a:solidFill>
            <a:srgbClr val="F7FAF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050792" y="4654296"/>
            <a:ext cx="11247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F2933"/>
                </a:solidFill>
              </a:rPr>
              <a:t>Lacen-MT</a:t>
            </a:r>
            <a:endParaRPr lang="en-US" sz="980" dirty="0"/>
          </a:p>
        </p:txBody>
      </p:sp>
      <p:sp>
        <p:nvSpPr>
          <p:cNvPr id="32" name="Shape 28"/>
          <p:cNvSpPr/>
          <p:nvPr/>
        </p:nvSpPr>
        <p:spPr>
          <a:xfrm>
            <a:off x="5340096" y="4526280"/>
            <a:ext cx="1417320" cy="438912"/>
          </a:xfrm>
          <a:prstGeom prst="roundRect">
            <a:avLst>
              <a:gd name="adj" fmla="val 16667"/>
            </a:avLst>
          </a:prstGeom>
          <a:solidFill>
            <a:srgbClr val="EEF5FA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5394960" y="4654296"/>
            <a:ext cx="13075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F2933"/>
                </a:solidFill>
              </a:rPr>
              <a:t>RUE / Regulação</a:t>
            </a:r>
            <a:endParaRPr lang="en-US" sz="980" dirty="0"/>
          </a:p>
        </p:txBody>
      </p:sp>
      <p:sp>
        <p:nvSpPr>
          <p:cNvPr id="34" name="Shape 30"/>
          <p:cNvSpPr/>
          <p:nvPr/>
        </p:nvSpPr>
        <p:spPr>
          <a:xfrm>
            <a:off x="6867144" y="4526280"/>
            <a:ext cx="1783080" cy="438912"/>
          </a:xfrm>
          <a:prstGeom prst="roundRect">
            <a:avLst>
              <a:gd name="adj" fmla="val 16667"/>
            </a:avLst>
          </a:prstGeom>
          <a:solidFill>
            <a:srgbClr val="F7FAF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922008" y="4654296"/>
            <a:ext cx="1673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F2933"/>
                </a:solidFill>
              </a:rPr>
              <a:t>Assistência Farmacêutica</a:t>
            </a:r>
            <a:endParaRPr lang="en-US" sz="980" dirty="0"/>
          </a:p>
        </p:txBody>
      </p:sp>
      <p:sp>
        <p:nvSpPr>
          <p:cNvPr id="36" name="Shape 32"/>
          <p:cNvSpPr/>
          <p:nvPr/>
        </p:nvSpPr>
        <p:spPr>
          <a:xfrm>
            <a:off x="8759952" y="4526280"/>
            <a:ext cx="1572768" cy="438912"/>
          </a:xfrm>
          <a:prstGeom prst="roundRect">
            <a:avLst>
              <a:gd name="adj" fmla="val 16667"/>
            </a:avLst>
          </a:prstGeom>
          <a:solidFill>
            <a:srgbClr val="EEF5FA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8814816" y="4654296"/>
            <a:ext cx="1463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F2933"/>
                </a:solidFill>
              </a:rPr>
              <a:t>Hospitais estaduais</a:t>
            </a:r>
            <a:endParaRPr lang="en-US" sz="980" dirty="0"/>
          </a:p>
        </p:txBody>
      </p:sp>
      <p:sp>
        <p:nvSpPr>
          <p:cNvPr id="38" name="Shape 34"/>
          <p:cNvSpPr/>
          <p:nvPr/>
        </p:nvSpPr>
        <p:spPr>
          <a:xfrm>
            <a:off x="10442448" y="4526280"/>
            <a:ext cx="1188720" cy="438912"/>
          </a:xfrm>
          <a:prstGeom prst="roundRect">
            <a:avLst>
              <a:gd name="adj" fmla="val 16667"/>
            </a:avLst>
          </a:prstGeom>
          <a:solidFill>
            <a:srgbClr val="F7FAF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10497312" y="4654296"/>
            <a:ext cx="10789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F2933"/>
                </a:solidFill>
              </a:rPr>
              <a:t>STI / dados</a:t>
            </a:r>
            <a:endParaRPr lang="en-US" sz="980" dirty="0"/>
          </a:p>
        </p:txBody>
      </p:sp>
      <p:sp>
        <p:nvSpPr>
          <p:cNvPr id="40" name="Text 36"/>
          <p:cNvSpPr/>
          <p:nvPr/>
        </p:nvSpPr>
        <p:spPr>
          <a:xfrm>
            <a:off x="685800" y="6181344"/>
            <a:ext cx="10149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i="1" dirty="0">
                <a:solidFill>
                  <a:srgbClr val="7884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 proposto: rede estadual distribuída, com coordenação central e territorialização pelos ERS.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2823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6F6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es_mt_logo_t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9728"/>
            <a:ext cx="2057400" cy="566928"/>
          </a:xfrm>
          <a:prstGeom prst="rect">
            <a:avLst/>
          </a:prstGeom>
        </p:spPr>
      </p:pic>
      <p:pic>
        <p:nvPicPr>
          <p:cNvPr id="3" name="Image 1" descr="/mnt/data/cievs_mt_logo_t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55448"/>
            <a:ext cx="1691640" cy="4572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074920" y="118872"/>
            <a:ext cx="393192" cy="39319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5230368" y="187452"/>
            <a:ext cx="8229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5143500" y="274320"/>
            <a:ext cx="256032" cy="822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 rot="720000">
            <a:off x="5468112" y="146304"/>
            <a:ext cx="420624" cy="393192"/>
          </a:xfrm>
          <a:prstGeom prst="arc">
            <a:avLst/>
          </a:prstGeom>
          <a:solidFill>
            <a:srgbClr val="FFFFFF">
              <a:alpha val="0"/>
            </a:srgbClr>
          </a:solidFill>
          <a:ln w="27940">
            <a:solidFill>
              <a:srgbClr val="5B9B3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532120" y="12801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CIATox-MT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5532120" y="393192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90" kern="0" dirty="0">
                <a:solidFill>
                  <a:srgbClr val="5B9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TOXICOLOGIA • VIGILÂNCIA • RESPOSTA</a:t>
            </a:r>
            <a:endParaRPr lang="en-US" sz="680" dirty="0"/>
          </a:p>
        </p:txBody>
      </p:sp>
      <p:sp>
        <p:nvSpPr>
          <p:cNvPr id="10" name="Text 6"/>
          <p:cNvSpPr/>
          <p:nvPr/>
        </p:nvSpPr>
        <p:spPr>
          <a:xfrm>
            <a:off x="685800" y="94183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Qual problema a rede estadual pretende resolver?</a:t>
            </a:r>
            <a:endParaRPr lang="en-US" sz="2500" dirty="0"/>
          </a:p>
        </p:txBody>
      </p:sp>
      <p:sp>
        <p:nvSpPr>
          <p:cNvPr id="11" name="Text 7"/>
          <p:cNvSpPr/>
          <p:nvPr/>
        </p:nvSpPr>
        <p:spPr>
          <a:xfrm>
            <a:off x="685800" y="1389888"/>
            <a:ext cx="10744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resposta toxicológica envolve múltiplos pontos do sistema; sem governança única, há risco de fragmentação.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22960" y="1874520"/>
            <a:ext cx="3337560" cy="1572768"/>
          </a:xfrm>
          <a:prstGeom prst="roundRect">
            <a:avLst>
              <a:gd name="adj" fmla="val 4651"/>
            </a:avLst>
          </a:prstGeom>
          <a:solidFill>
            <a:srgbClr val="EEF5FA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87552" y="203911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</a:rPr>
              <a:t>Acesso desigual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987552" y="2377440"/>
            <a:ext cx="2999232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</a:rPr>
              <a:t>Municípios distantes dos centros de maior complexidade podem ter dificuldade de acesso rápido à expertise toxicológica.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4526280" y="1874520"/>
            <a:ext cx="3337560" cy="1572768"/>
          </a:xfrm>
          <a:prstGeom prst="roundRect">
            <a:avLst>
              <a:gd name="adj" fmla="val 4651"/>
            </a:avLst>
          </a:prstGeom>
          <a:solidFill>
            <a:srgbClr val="EEF5FA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690872" y="203911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</a:rPr>
              <a:t>Fluxos fragmentados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690872" y="2377440"/>
            <a:ext cx="2999232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</a:rPr>
              <a:t>Assistência, vigilância, regulação, laboratório e farmácia podem atuar sem fluxo estadual único.</a:t>
            </a:r>
            <a:endParaRPr lang="en-US" sz="1080" dirty="0"/>
          </a:p>
        </p:txBody>
      </p:sp>
      <p:sp>
        <p:nvSpPr>
          <p:cNvPr id="18" name="Shape 14"/>
          <p:cNvSpPr/>
          <p:nvPr/>
        </p:nvSpPr>
        <p:spPr>
          <a:xfrm>
            <a:off x="8229600" y="1874520"/>
            <a:ext cx="3337560" cy="1572768"/>
          </a:xfrm>
          <a:prstGeom prst="roundRect">
            <a:avLst>
              <a:gd name="adj" fmla="val 4651"/>
            </a:avLst>
          </a:prstGeom>
          <a:solidFill>
            <a:srgbClr val="EEF5FA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394192" y="203911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</a:rPr>
              <a:t>Antídotos dispersos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8394192" y="2377440"/>
            <a:ext cx="2999232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</a:rPr>
              <a:t>Ausência de visão integrada de estoque, validade, localização e tempo de acesso.</a:t>
            </a:r>
            <a:endParaRPr lang="en-US" sz="1080" dirty="0"/>
          </a:p>
        </p:txBody>
      </p:sp>
      <p:sp>
        <p:nvSpPr>
          <p:cNvPr id="21" name="Shape 17"/>
          <p:cNvSpPr/>
          <p:nvPr/>
        </p:nvSpPr>
        <p:spPr>
          <a:xfrm>
            <a:off x="822960" y="3794760"/>
            <a:ext cx="333756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987552" y="39593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</a:rPr>
              <a:t>Dados tardios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987552" y="4297680"/>
            <a:ext cx="2999232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</a:rPr>
              <a:t>Clusters e eventos incomuns podem ser reconhecidos apenas após aumento de casos ou gravidade.</a:t>
            </a:r>
            <a:endParaRPr lang="en-US" sz="1080" dirty="0"/>
          </a:p>
        </p:txBody>
      </p:sp>
      <p:sp>
        <p:nvSpPr>
          <p:cNvPr id="24" name="Shape 20"/>
          <p:cNvSpPr/>
          <p:nvPr/>
        </p:nvSpPr>
        <p:spPr>
          <a:xfrm>
            <a:off x="4526280" y="3794760"/>
            <a:ext cx="333756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690872" y="39593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</a:rPr>
              <a:t>Laboratório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4690872" y="4297680"/>
            <a:ext cx="2999232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</a:rPr>
              <a:t>Nem todas as análises toxicológicas estão disponíveis no mesmo ponto assistencial.</a:t>
            </a:r>
            <a:endParaRPr lang="en-US" sz="1080" dirty="0"/>
          </a:p>
        </p:txBody>
      </p:sp>
      <p:sp>
        <p:nvSpPr>
          <p:cNvPr id="27" name="Shape 23"/>
          <p:cNvSpPr/>
          <p:nvPr/>
        </p:nvSpPr>
        <p:spPr>
          <a:xfrm>
            <a:off x="8229600" y="3794760"/>
            <a:ext cx="333756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8394192" y="39593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</a:rPr>
              <a:t>Emergências químicas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8394192" y="4297680"/>
            <a:ext cx="2999232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</a:rPr>
              <a:t>Acidentes coletivos, agrotóxicos, metanol e outros agentes exigem resposta intersetorial rápida.</a:t>
            </a:r>
            <a:endParaRPr lang="en-US" sz="1080" dirty="0"/>
          </a:p>
        </p:txBody>
      </p:sp>
      <p:sp>
        <p:nvSpPr>
          <p:cNvPr id="30" name="Text 26"/>
          <p:cNvSpPr/>
          <p:nvPr/>
        </p:nvSpPr>
        <p:spPr>
          <a:xfrm>
            <a:off x="685800" y="6181344"/>
            <a:ext cx="10149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i="1" dirty="0">
                <a:solidFill>
                  <a:srgbClr val="7884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projeto propõe fluxos e responsabilidades pactuados, com monitoramento territorial e assistência especializada 24/7.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2823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6F6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es_mt_logo_t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9728"/>
            <a:ext cx="2057400" cy="566928"/>
          </a:xfrm>
          <a:prstGeom prst="rect">
            <a:avLst/>
          </a:prstGeom>
        </p:spPr>
      </p:pic>
      <p:pic>
        <p:nvPicPr>
          <p:cNvPr id="3" name="Image 1" descr="/mnt/data/cievs_mt_logo_t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55448"/>
            <a:ext cx="1691640" cy="4572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074920" y="118872"/>
            <a:ext cx="393192" cy="39319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5230368" y="187452"/>
            <a:ext cx="8229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5143500" y="274320"/>
            <a:ext cx="256032" cy="822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 rot="720000">
            <a:off x="5468112" y="146304"/>
            <a:ext cx="420624" cy="393192"/>
          </a:xfrm>
          <a:prstGeom prst="arc">
            <a:avLst/>
          </a:prstGeom>
          <a:solidFill>
            <a:srgbClr val="FFFFFF">
              <a:alpha val="0"/>
            </a:srgbClr>
          </a:solidFill>
          <a:ln w="27940">
            <a:solidFill>
              <a:srgbClr val="5B9B3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532120" y="12801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CIATox-MT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5532120" y="393192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90" kern="0" dirty="0">
                <a:solidFill>
                  <a:srgbClr val="5B9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TOXICOLOGIA • VIGILÂNCIA • RESPOSTA</a:t>
            </a:r>
            <a:endParaRPr lang="en-US" sz="680" dirty="0"/>
          </a:p>
        </p:txBody>
      </p:sp>
      <p:sp>
        <p:nvSpPr>
          <p:cNvPr id="10" name="Text 6"/>
          <p:cNvSpPr/>
          <p:nvPr/>
        </p:nvSpPr>
        <p:spPr>
          <a:xfrm>
            <a:off x="685800" y="94183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Modelo proposto: uma rede em quatro níveis</a:t>
            </a:r>
            <a:endParaRPr lang="en-US" sz="2500" dirty="0"/>
          </a:p>
        </p:txBody>
      </p:sp>
      <p:sp>
        <p:nvSpPr>
          <p:cNvPr id="11" name="Text 7"/>
          <p:cNvSpPr/>
          <p:nvPr/>
        </p:nvSpPr>
        <p:spPr>
          <a:xfrm>
            <a:off x="685800" y="1389888"/>
            <a:ext cx="10744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CIATox-MT funciona como núcleo coordenador; os ERS territorializam a rede.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22960" y="2011680"/>
            <a:ext cx="2331720" cy="2423160"/>
          </a:xfrm>
          <a:prstGeom prst="roundRect">
            <a:avLst>
              <a:gd name="adj" fmla="val 3137"/>
            </a:avLst>
          </a:prstGeom>
          <a:solidFill>
            <a:srgbClr val="EEF5FA"/>
          </a:solidFill>
          <a:ln w="19050">
            <a:solidFill>
              <a:srgbClr val="1F4E7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69264" y="2212848"/>
            <a:ext cx="2039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9"/>
                </a:solidFill>
              </a:rPr>
              <a:t>NÍVEL 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4E79"/>
                </a:solidFill>
              </a:rPr>
              <a:t>CIATox-MT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4E79"/>
                </a:solidFill>
              </a:rPr>
              <a:t>Coordenação Estadual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987552" y="3154680"/>
            <a:ext cx="2002536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1F2933"/>
                </a:solidFill>
              </a:rPr>
              <a:t>Teleconsultoria 24/7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1F2933"/>
                </a:solidFill>
              </a:rPr>
              <a:t>Toxicologia clínica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1F2933"/>
                </a:solidFill>
              </a:rPr>
              <a:t>Protocolos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1F2933"/>
                </a:solidFill>
              </a:rPr>
              <a:t>Toxicovigilância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1F2933"/>
                </a:solidFill>
              </a:rPr>
              <a:t>Rede de antídotos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3246120" y="2880360"/>
            <a:ext cx="347472" cy="411480"/>
          </a:xfrm>
          <a:prstGeom prst="chevron">
            <a:avLst/>
          </a:prstGeom>
          <a:solidFill>
            <a:srgbClr val="89939C"/>
          </a:solidFill>
          <a:ln w="12700">
            <a:solidFill>
              <a:srgbClr val="89939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410712" y="2011680"/>
            <a:ext cx="2331720" cy="2423160"/>
          </a:xfrm>
          <a:prstGeom prst="roundRect">
            <a:avLst>
              <a:gd name="adj" fmla="val 3137"/>
            </a:avLst>
          </a:prstGeom>
          <a:solidFill>
            <a:srgbClr val="EAF4E6"/>
          </a:solidFill>
          <a:ln w="19050">
            <a:solidFill>
              <a:srgbClr val="5B9B3D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557016" y="2212848"/>
            <a:ext cx="2039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9B3D"/>
                </a:solidFill>
              </a:rPr>
              <a:t>NÍVEL 2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5B9B3D"/>
                </a:solidFill>
              </a:rPr>
              <a:t>Escritórios Regionais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5B9B3D"/>
                </a:solidFill>
              </a:rPr>
              <a:t>Nós territoriais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3575304" y="3154680"/>
            <a:ext cx="2002536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1F2933"/>
                </a:solidFill>
              </a:rPr>
              <a:t>Ponto focal regional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1F2933"/>
                </a:solidFill>
              </a:rPr>
              <a:t>Articulação municipal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1F2933"/>
                </a:solidFill>
              </a:rPr>
              <a:t>Monitoramento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1F2933"/>
                </a:solidFill>
              </a:rPr>
              <a:t>Capacitação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1F2933"/>
                </a:solidFill>
              </a:rPr>
              <a:t>Logística e fluxos</a:t>
            </a:r>
            <a:endParaRPr lang="en-US" sz="1080" dirty="0"/>
          </a:p>
        </p:txBody>
      </p:sp>
      <p:sp>
        <p:nvSpPr>
          <p:cNvPr id="19" name="Shape 15"/>
          <p:cNvSpPr/>
          <p:nvPr/>
        </p:nvSpPr>
        <p:spPr>
          <a:xfrm>
            <a:off x="5833872" y="2880360"/>
            <a:ext cx="347472" cy="411480"/>
          </a:xfrm>
          <a:prstGeom prst="chevron">
            <a:avLst/>
          </a:prstGeom>
          <a:solidFill>
            <a:srgbClr val="89939C"/>
          </a:solidFill>
          <a:ln w="12700">
            <a:solidFill>
              <a:srgbClr val="89939C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998464" y="2011680"/>
            <a:ext cx="2331720" cy="2423160"/>
          </a:xfrm>
          <a:prstGeom prst="roundRect">
            <a:avLst>
              <a:gd name="adj" fmla="val 3137"/>
            </a:avLst>
          </a:prstGeom>
          <a:solidFill>
            <a:srgbClr val="EEF5FA"/>
          </a:solidFill>
          <a:ln w="19050">
            <a:solidFill>
              <a:srgbClr val="1F4E79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144768" y="2212848"/>
            <a:ext cx="2039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9"/>
                </a:solidFill>
              </a:rPr>
              <a:t>NÍVEL 3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4E79"/>
                </a:solidFill>
              </a:rPr>
              <a:t>Referências Regionais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4E79"/>
                </a:solidFill>
              </a:rPr>
              <a:t>Assistência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6163056" y="3154680"/>
            <a:ext cx="2002536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1F2933"/>
                </a:solidFill>
              </a:rPr>
              <a:t>Hospitais/UPA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1F2933"/>
                </a:solidFill>
              </a:rPr>
              <a:t>SAMU e regulação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1F2933"/>
                </a:solidFill>
              </a:rPr>
              <a:t>Estabilização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1F2933"/>
                </a:solidFill>
              </a:rPr>
              <a:t>Antídotos estratégicos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1F2933"/>
                </a:solidFill>
              </a:rPr>
              <a:t>Coleta de amostras</a:t>
            </a:r>
            <a:endParaRPr lang="en-US" sz="1080" dirty="0"/>
          </a:p>
        </p:txBody>
      </p:sp>
      <p:sp>
        <p:nvSpPr>
          <p:cNvPr id="23" name="Shape 19"/>
          <p:cNvSpPr/>
          <p:nvPr/>
        </p:nvSpPr>
        <p:spPr>
          <a:xfrm>
            <a:off x="8421624" y="2880360"/>
            <a:ext cx="347472" cy="411480"/>
          </a:xfrm>
          <a:prstGeom prst="chevron">
            <a:avLst/>
          </a:prstGeom>
          <a:solidFill>
            <a:srgbClr val="89939C"/>
          </a:solidFill>
          <a:ln w="12700">
            <a:solidFill>
              <a:srgbClr val="89939C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8586216" y="2011680"/>
            <a:ext cx="2331720" cy="2423160"/>
          </a:xfrm>
          <a:prstGeom prst="roundRect">
            <a:avLst>
              <a:gd name="adj" fmla="val 3137"/>
            </a:avLst>
          </a:prstGeom>
          <a:solidFill>
            <a:srgbClr val="FBEEDD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732520" y="2212848"/>
            <a:ext cx="2039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7E22"/>
                </a:solidFill>
              </a:rPr>
              <a:t>NÍVEL 4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67E22"/>
                </a:solidFill>
              </a:rPr>
              <a:t>Municípios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67E22"/>
                </a:solidFill>
              </a:rPr>
              <a:t>Porta territorial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8750808" y="3154680"/>
            <a:ext cx="2002536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1F2933"/>
                </a:solidFill>
              </a:rPr>
              <a:t>Identificação precoce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1F2933"/>
                </a:solidFill>
              </a:rPr>
              <a:t>Contato com CIATox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1F2933"/>
                </a:solidFill>
              </a:rPr>
              <a:t>Notificação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1F2933"/>
                </a:solidFill>
              </a:rPr>
              <a:t>Fluxos assistenciais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1F2933"/>
                </a:solidFill>
              </a:rPr>
              <a:t>Prevenção</a:t>
            </a:r>
            <a:endParaRPr lang="en-US" sz="1080" dirty="0"/>
          </a:p>
        </p:txBody>
      </p:sp>
      <p:sp>
        <p:nvSpPr>
          <p:cNvPr id="27" name="Shape 23"/>
          <p:cNvSpPr/>
          <p:nvPr/>
        </p:nvSpPr>
        <p:spPr>
          <a:xfrm>
            <a:off x="1828800" y="4800600"/>
            <a:ext cx="8503920" cy="749808"/>
          </a:xfrm>
          <a:prstGeom prst="roundRect">
            <a:avLst>
              <a:gd name="adj" fmla="val 9756"/>
            </a:avLst>
          </a:prstGeom>
          <a:solidFill>
            <a:srgbClr val="F7FAF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2057400" y="506577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F2933"/>
                </a:solidFill>
              </a:rPr>
              <a:t>Componentes transversais: CIEVS-MT • Lacen-MT • Assistência Farmacêutica • RUE/Regulação • Vigilâncias • STI/Dados</a:t>
            </a:r>
            <a:endParaRPr lang="en-US" sz="1260" dirty="0"/>
          </a:p>
        </p:txBody>
      </p:sp>
      <p:sp>
        <p:nvSpPr>
          <p:cNvPr id="29" name="Text 25"/>
          <p:cNvSpPr/>
          <p:nvPr/>
        </p:nvSpPr>
        <p:spPr>
          <a:xfrm>
            <a:off x="685800" y="6181344"/>
            <a:ext cx="10149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i="1" dirty="0">
                <a:solidFill>
                  <a:srgbClr val="7884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regionalização é coerente com a Portaria, que vincula o CIATox ao PRI, PAR-RUE e às redes de atenção.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2823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6F6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es_mt_logo_t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9728"/>
            <a:ext cx="2057400" cy="566928"/>
          </a:xfrm>
          <a:prstGeom prst="rect">
            <a:avLst/>
          </a:prstGeom>
        </p:spPr>
      </p:pic>
      <p:pic>
        <p:nvPicPr>
          <p:cNvPr id="3" name="Image 1" descr="/mnt/data/cievs_mt_logo_t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55448"/>
            <a:ext cx="1691640" cy="4572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074920" y="118872"/>
            <a:ext cx="393192" cy="39319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5230368" y="187452"/>
            <a:ext cx="8229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5143500" y="274320"/>
            <a:ext cx="256032" cy="822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 rot="720000">
            <a:off x="5468112" y="146304"/>
            <a:ext cx="420624" cy="393192"/>
          </a:xfrm>
          <a:prstGeom prst="arc">
            <a:avLst/>
          </a:prstGeom>
          <a:solidFill>
            <a:srgbClr val="FFFFFF">
              <a:alpha val="0"/>
            </a:srgbClr>
          </a:solidFill>
          <a:ln w="27940">
            <a:solidFill>
              <a:srgbClr val="5B9B3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532120" y="12801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CIATox-MT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5532120" y="393192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90" kern="0" dirty="0">
                <a:solidFill>
                  <a:srgbClr val="5B9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TOXICOLOGIA • VIGILÂNCIA • RESPOSTA</a:t>
            </a:r>
            <a:endParaRPr lang="en-US" sz="680" dirty="0"/>
          </a:p>
        </p:txBody>
      </p:sp>
      <p:sp>
        <p:nvSpPr>
          <p:cNvPr id="10" name="Text 6"/>
          <p:cNvSpPr/>
          <p:nvPr/>
        </p:nvSpPr>
        <p:spPr>
          <a:xfrm>
            <a:off x="685800" y="94183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Escritórios Regionais de Saúde: função estratégica</a:t>
            </a:r>
            <a:endParaRPr lang="en-US" sz="2500" dirty="0"/>
          </a:p>
        </p:txBody>
      </p:sp>
      <p:sp>
        <p:nvSpPr>
          <p:cNvPr id="11" name="Text 7"/>
          <p:cNvSpPr/>
          <p:nvPr/>
        </p:nvSpPr>
        <p:spPr>
          <a:xfrm>
            <a:off x="685800" y="1389888"/>
            <a:ext cx="10744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ERS devem integrar formalmente o projeto como pontos territoriais da Rede CIATox-MT.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22960" y="1847088"/>
            <a:ext cx="2834640" cy="3337560"/>
          </a:xfrm>
          <a:prstGeom prst="roundRect">
            <a:avLst>
              <a:gd name="adj" fmla="val 2581"/>
            </a:avLst>
          </a:prstGeom>
          <a:solidFill>
            <a:srgbClr val="EAF4E6"/>
          </a:solidFill>
          <a:ln w="19050">
            <a:solidFill>
              <a:srgbClr val="5B9B3D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078992" y="21488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9B3D"/>
                </a:solidFill>
              </a:rPr>
              <a:t>Ponto Focal Regional de Toxicologia e Toxicovigilância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1133856" y="2999232"/>
            <a:ext cx="224028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3"/>
                </a:solidFill>
              </a:rPr>
              <a:t>1 profissional ou equipe de referência designada pelo ERS, conectada diretamente ao núcleo estadual.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1737360" y="4297680"/>
            <a:ext cx="1005840" cy="502920"/>
          </a:xfrm>
          <a:prstGeom prst="ellipse">
            <a:avLst/>
          </a:prstGeom>
          <a:solidFill>
            <a:srgbClr val="5B9B3D"/>
          </a:solidFill>
          <a:ln w="12700">
            <a:solidFill>
              <a:srgbClr val="5B9B3D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737360" y="441655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ERS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4069080" y="1901952"/>
            <a:ext cx="6903720" cy="3337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13360" indent="-213360"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articular municípios, hospitais, SAMU e regulação</a:t>
            </a:r>
            <a:endParaRPr lang="en-US" sz="1400" dirty="0"/>
          </a:p>
          <a:p>
            <a:pPr marL="213360" indent="-213360"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acompanhar antídotos e soros estratégicos</a:t>
            </a:r>
            <a:endParaRPr lang="en-US" sz="1400" dirty="0"/>
          </a:p>
          <a:p>
            <a:pPr marL="213360" indent="-213360"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apoiar transporte e fluxo de amostras ao Lacen</a:t>
            </a:r>
            <a:endParaRPr lang="en-US" sz="1400" dirty="0"/>
          </a:p>
          <a:p>
            <a:pPr marL="213360" indent="-213360"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monitorar indicadores e eventos incomuns</a:t>
            </a:r>
            <a:endParaRPr lang="en-US" sz="1400" dirty="0"/>
          </a:p>
          <a:p>
            <a:pPr marL="213360" indent="-213360"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qualificar notificações e investigações</a:t>
            </a:r>
            <a:endParaRPr lang="en-US" sz="1400" dirty="0"/>
          </a:p>
          <a:p>
            <a:pPr marL="213360" indent="-213360"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mapear capacidade regional e vazios assistenciais</a:t>
            </a:r>
            <a:endParaRPr lang="en-US" sz="1400" dirty="0"/>
          </a:p>
          <a:p>
            <a:pPr marL="213360" indent="-213360"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coordenar educação permanente regional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4114800" y="4983480"/>
            <a:ext cx="6675120" cy="585216"/>
          </a:xfrm>
          <a:prstGeom prst="roundRect">
            <a:avLst>
              <a:gd name="adj" fmla="val 12500"/>
            </a:avLst>
          </a:prstGeom>
          <a:solidFill>
            <a:srgbClr val="EEF5FA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343400" y="5175504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F4E79"/>
                </a:solidFill>
              </a:rPr>
              <a:t>Resultado: o CIATox deixa de ser “um serviço em Cuiabá” e passa a operar como REDE ESTADUAL territorializada.</a:t>
            </a:r>
            <a:endParaRPr lang="en-US" sz="1320" dirty="0"/>
          </a:p>
        </p:txBody>
      </p:sp>
      <p:sp>
        <p:nvSpPr>
          <p:cNvPr id="20" name="Text 16"/>
          <p:cNvSpPr/>
          <p:nvPr/>
        </p:nvSpPr>
        <p:spPr>
          <a:xfrm>
            <a:off x="685800" y="6181344"/>
            <a:ext cx="10149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i="1" dirty="0">
                <a:solidFill>
                  <a:srgbClr val="7884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organizacional estadual; a Portaria exige regionalização, mas não define o papel dos ERS.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2823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6F6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es_mt_logo_t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9728"/>
            <a:ext cx="2057400" cy="566928"/>
          </a:xfrm>
          <a:prstGeom prst="rect">
            <a:avLst/>
          </a:prstGeom>
        </p:spPr>
      </p:pic>
      <p:pic>
        <p:nvPicPr>
          <p:cNvPr id="3" name="Image 1" descr="/mnt/data/cievs_mt_logo_t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55448"/>
            <a:ext cx="1691640" cy="4572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074920" y="118872"/>
            <a:ext cx="393192" cy="39319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5230368" y="187452"/>
            <a:ext cx="8229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5143500" y="274320"/>
            <a:ext cx="256032" cy="822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 rot="720000">
            <a:off x="5468112" y="146304"/>
            <a:ext cx="420624" cy="393192"/>
          </a:xfrm>
          <a:prstGeom prst="arc">
            <a:avLst/>
          </a:prstGeom>
          <a:solidFill>
            <a:srgbClr val="FFFFFF">
              <a:alpha val="0"/>
            </a:srgbClr>
          </a:solidFill>
          <a:ln w="27940">
            <a:solidFill>
              <a:srgbClr val="5B9B3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532120" y="12801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CIATox-MT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5532120" y="393192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90" kern="0" dirty="0">
                <a:solidFill>
                  <a:srgbClr val="5B9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TOXICOLOGIA • VIGILÂNCIA • RESPOSTA</a:t>
            </a:r>
            <a:endParaRPr lang="en-US" sz="680" dirty="0"/>
          </a:p>
        </p:txBody>
      </p:sp>
      <p:sp>
        <p:nvSpPr>
          <p:cNvPr id="10" name="Text 6"/>
          <p:cNvSpPr/>
          <p:nvPr/>
        </p:nvSpPr>
        <p:spPr>
          <a:xfrm>
            <a:off x="685800" y="94183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Governança e fluxo de resposta</a:t>
            </a:r>
            <a:endParaRPr lang="en-US" sz="2500" dirty="0"/>
          </a:p>
        </p:txBody>
      </p:sp>
      <p:sp>
        <p:nvSpPr>
          <p:cNvPr id="11" name="Text 7"/>
          <p:cNvSpPr/>
          <p:nvPr/>
        </p:nvSpPr>
        <p:spPr>
          <a:xfrm>
            <a:off x="685800" y="1389888"/>
            <a:ext cx="10744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 entre assistência, vigilância, laboratório, regulação e território.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663440" y="1783080"/>
            <a:ext cx="2834640" cy="685800"/>
          </a:xfrm>
          <a:prstGeom prst="roundRect">
            <a:avLst>
              <a:gd name="adj" fmla="val 10667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800600" y="19933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SECRETÁRIO DE ESTADO DE SAÚDE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705856" y="2496312"/>
            <a:ext cx="457200" cy="347472"/>
          </a:xfrm>
          <a:prstGeom prst="chevron">
            <a:avLst/>
          </a:prstGeom>
          <a:solidFill>
            <a:srgbClr val="89939C"/>
          </a:solidFill>
          <a:ln w="12700">
            <a:solidFill>
              <a:srgbClr val="89939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160520" y="2788920"/>
            <a:ext cx="3840480" cy="731520"/>
          </a:xfrm>
          <a:prstGeom prst="roundRect">
            <a:avLst>
              <a:gd name="adj" fmla="val 10000"/>
            </a:avLst>
          </a:prstGeom>
          <a:solidFill>
            <a:srgbClr val="EEF5FA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407408" y="3026664"/>
            <a:ext cx="3346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9"/>
                </a:solidFill>
              </a:rPr>
              <a:t>COMITÊ GESTOR ESTADUAL CIATox-MT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705856" y="3547872"/>
            <a:ext cx="457200" cy="347472"/>
          </a:xfrm>
          <a:prstGeom prst="chevron">
            <a:avLst/>
          </a:prstGeom>
          <a:solidFill>
            <a:srgbClr val="89939C"/>
          </a:solidFill>
          <a:ln w="12700">
            <a:solidFill>
              <a:srgbClr val="89939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480560" y="3886200"/>
            <a:ext cx="3200400" cy="822960"/>
          </a:xfrm>
          <a:prstGeom prst="roundRect">
            <a:avLst>
              <a:gd name="adj" fmla="val 8889"/>
            </a:avLst>
          </a:prstGeom>
          <a:solidFill>
            <a:srgbClr val="EAF4E6"/>
          </a:solidFill>
          <a:ln w="12700">
            <a:solidFill>
              <a:srgbClr val="5B9B3D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681728" y="4178808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9B3D"/>
                </a:solidFill>
              </a:rPr>
              <a:t>NÚCLEO ESTADUAL CIATox-MT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685800" y="2267712"/>
            <a:ext cx="2788920" cy="2514600"/>
          </a:xfrm>
          <a:prstGeom prst="roundRect">
            <a:avLst>
              <a:gd name="adj" fmla="val 2909"/>
            </a:avLst>
          </a:prstGeom>
          <a:solidFill>
            <a:srgbClr val="F7FAF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932688" y="25146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</a:rPr>
              <a:t>COMPONENTES TRANSVERSAIS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960120" y="2907792"/>
            <a:ext cx="224028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CIEVS-MT</a:t>
            </a:r>
            <a:endParaRPr lang="en-US" sz="1250" dirty="0"/>
          </a:p>
          <a:p>
            <a:pPr marL="190500" indent="-190500"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Lacen-MT</a:t>
            </a:r>
            <a:endParaRPr lang="en-US" sz="1250" dirty="0"/>
          </a:p>
          <a:p>
            <a:pPr marL="190500" indent="-190500"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Assistência Farmacêutica</a:t>
            </a:r>
            <a:endParaRPr lang="en-US" sz="1250" dirty="0"/>
          </a:p>
          <a:p>
            <a:pPr marL="190500" indent="-190500"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RUE / Regulação</a:t>
            </a:r>
            <a:endParaRPr lang="en-US" sz="1250" dirty="0"/>
          </a:p>
          <a:p>
            <a:pPr marL="190500" indent="-190500"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Vigilâncias</a:t>
            </a:r>
            <a:endParaRPr lang="en-US" sz="1250" dirty="0"/>
          </a:p>
          <a:p>
            <a:pPr marL="190500" indent="-190500"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 / Ciência de Dados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8641080" y="2267712"/>
            <a:ext cx="2788920" cy="2514600"/>
          </a:xfrm>
          <a:prstGeom prst="roundRect">
            <a:avLst>
              <a:gd name="adj" fmla="val 2909"/>
            </a:avLst>
          </a:prstGeom>
          <a:solidFill>
            <a:srgbClr val="F7FAF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915400" y="251460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</a:rPr>
              <a:t>TERRITÓRIO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8915400" y="2907792"/>
            <a:ext cx="214884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Escritórios Regionais</a:t>
            </a:r>
            <a:endParaRPr lang="en-US" sz="1250" dirty="0"/>
          </a:p>
          <a:p>
            <a:pPr marL="190500" indent="-190500"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Hospitais de referência</a:t>
            </a:r>
            <a:endParaRPr lang="en-US" sz="1250" dirty="0"/>
          </a:p>
          <a:p>
            <a:pPr marL="190500" indent="-190500"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SAMU / UPA</a:t>
            </a:r>
            <a:endParaRPr lang="en-US" sz="1250" dirty="0"/>
          </a:p>
          <a:p>
            <a:pPr marL="190500" indent="-190500"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Secretarias Municipais</a:t>
            </a:r>
            <a:endParaRPr lang="en-US" sz="1250" dirty="0"/>
          </a:p>
          <a:p>
            <a:pPr marL="190500" indent="-190500"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Pontos de antídotos</a:t>
            </a:r>
            <a:endParaRPr lang="en-US" sz="1250" dirty="0"/>
          </a:p>
          <a:p>
            <a:pPr marL="190500" indent="-190500"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 laboratorial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3474720" y="3511296"/>
            <a:ext cx="1005840" cy="0"/>
          </a:xfrm>
          <a:prstGeom prst="line">
            <a:avLst/>
          </a:prstGeom>
          <a:noFill/>
          <a:ln w="19050">
            <a:solidFill>
              <a:srgbClr val="89939C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680960" y="3703320"/>
            <a:ext cx="960120" cy="0"/>
          </a:xfrm>
          <a:prstGeom prst="line">
            <a:avLst/>
          </a:prstGeom>
          <a:noFill/>
          <a:ln w="19050">
            <a:solidFill>
              <a:srgbClr val="89939C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3383280" y="5084064"/>
            <a:ext cx="5440680" cy="566928"/>
          </a:xfrm>
          <a:prstGeom prst="roundRect">
            <a:avLst>
              <a:gd name="adj" fmla="val 12903"/>
            </a:avLst>
          </a:prstGeom>
          <a:solidFill>
            <a:srgbClr val="FBEEDD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639312" y="527608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70" b="1" dirty="0">
                <a:solidFill>
                  <a:srgbClr val="1F2933"/>
                </a:solidFill>
              </a:rPr>
              <a:t>Fluxo operacional: detectar → orientar → regular → tratar → investigar → alertar → aprender</a:t>
            </a:r>
            <a:endParaRPr lang="en-US" sz="1270" dirty="0"/>
          </a:p>
        </p:txBody>
      </p:sp>
      <p:sp>
        <p:nvSpPr>
          <p:cNvPr id="30" name="Text 26"/>
          <p:cNvSpPr/>
          <p:nvPr/>
        </p:nvSpPr>
        <p:spPr>
          <a:xfrm>
            <a:off x="685800" y="6181344"/>
            <a:ext cx="10149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i="1" dirty="0">
                <a:solidFill>
                  <a:srgbClr val="7884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Portaria atribui ao CIATox funções assistenciais, de vigilância, apoio laboratorial e gestão de antídotos.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2823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6F6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es_mt_logo_t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9728"/>
            <a:ext cx="2057400" cy="566928"/>
          </a:xfrm>
          <a:prstGeom prst="rect">
            <a:avLst/>
          </a:prstGeom>
        </p:spPr>
      </p:pic>
      <p:pic>
        <p:nvPicPr>
          <p:cNvPr id="3" name="Image 1" descr="/mnt/data/cievs_mt_logo_t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55448"/>
            <a:ext cx="1691640" cy="4572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074920" y="118872"/>
            <a:ext cx="393192" cy="39319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5230368" y="187452"/>
            <a:ext cx="8229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5143500" y="274320"/>
            <a:ext cx="256032" cy="822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 rot="720000">
            <a:off x="5468112" y="146304"/>
            <a:ext cx="420624" cy="393192"/>
          </a:xfrm>
          <a:prstGeom prst="arc">
            <a:avLst/>
          </a:prstGeom>
          <a:solidFill>
            <a:srgbClr val="FFFFFF">
              <a:alpha val="0"/>
            </a:srgbClr>
          </a:solidFill>
          <a:ln w="27940">
            <a:solidFill>
              <a:srgbClr val="5B9B3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532120" y="12801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CIATox-MT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5532120" y="393192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90" kern="0" dirty="0">
                <a:solidFill>
                  <a:srgbClr val="5B9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TOXICOLOGIA • VIGILÂNCIA • RESPOSTA</a:t>
            </a:r>
            <a:endParaRPr lang="en-US" sz="680" dirty="0"/>
          </a:p>
        </p:txBody>
      </p:sp>
      <p:sp>
        <p:nvSpPr>
          <p:cNvPr id="10" name="Text 6"/>
          <p:cNvSpPr/>
          <p:nvPr/>
        </p:nvSpPr>
        <p:spPr>
          <a:xfrm>
            <a:off x="685800" y="94183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Financiamento federal: oportunidade relevante para MT</a:t>
            </a:r>
            <a:endParaRPr lang="en-US" sz="2500" dirty="0"/>
          </a:p>
        </p:txBody>
      </p:sp>
      <p:sp>
        <p:nvSpPr>
          <p:cNvPr id="11" name="Text 7"/>
          <p:cNvSpPr/>
          <p:nvPr/>
        </p:nvSpPr>
        <p:spPr>
          <a:xfrm>
            <a:off x="685800" y="1389888"/>
            <a:ext cx="10744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Simulação preliminar para a faixa populacional da Opção de Custeio II.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749808" y="1874520"/>
            <a:ext cx="2487168" cy="1508760"/>
          </a:xfrm>
          <a:prstGeom prst="roundRect">
            <a:avLst>
              <a:gd name="adj" fmla="val 4848"/>
            </a:avLst>
          </a:prstGeom>
          <a:solidFill>
            <a:srgbClr val="EEF5FA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14400" y="2039112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R$ 146.325,53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914400" y="2587752"/>
            <a:ext cx="2157984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Custeio-base mensal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Opção II</a:t>
            </a:r>
            <a:endParaRPr lang="en-US" sz="1120" dirty="0"/>
          </a:p>
        </p:txBody>
      </p:sp>
      <p:sp>
        <p:nvSpPr>
          <p:cNvPr id="15" name="Shape 11"/>
          <p:cNvSpPr/>
          <p:nvPr/>
        </p:nvSpPr>
        <p:spPr>
          <a:xfrm>
            <a:off x="3538728" y="1874520"/>
            <a:ext cx="2487168" cy="1508760"/>
          </a:xfrm>
          <a:prstGeom prst="roundRect">
            <a:avLst>
              <a:gd name="adj" fmla="val 4848"/>
            </a:avLst>
          </a:prstGeom>
          <a:solidFill>
            <a:srgbClr val="EAF4E6"/>
          </a:solidFill>
          <a:ln w="15240">
            <a:solidFill>
              <a:srgbClr val="5B9B3D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703320" y="2039112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9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R$ 43.897,66</a:t>
            </a:r>
            <a:endParaRPr lang="en-US" sz="2600" dirty="0"/>
          </a:p>
        </p:txBody>
      </p:sp>
      <p:sp>
        <p:nvSpPr>
          <p:cNvPr id="17" name="Text 13"/>
          <p:cNvSpPr/>
          <p:nvPr/>
        </p:nvSpPr>
        <p:spPr>
          <a:xfrm>
            <a:off x="3703320" y="2587752"/>
            <a:ext cx="2157984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Amazônia Legal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(sobre o custeio-base)</a:t>
            </a:r>
            <a:endParaRPr lang="en-US" sz="1120" dirty="0"/>
          </a:p>
        </p:txBody>
      </p:sp>
      <p:sp>
        <p:nvSpPr>
          <p:cNvPr id="18" name="Shape 14"/>
          <p:cNvSpPr/>
          <p:nvPr/>
        </p:nvSpPr>
        <p:spPr>
          <a:xfrm>
            <a:off x="6327648" y="1874520"/>
            <a:ext cx="2487168" cy="1508760"/>
          </a:xfrm>
          <a:prstGeom prst="roundRect">
            <a:avLst>
              <a:gd name="adj" fmla="val 4848"/>
            </a:avLst>
          </a:prstGeom>
          <a:solidFill>
            <a:srgbClr val="EEF5FA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92240" y="2039112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R$ 25.412,67</a:t>
            </a:r>
            <a:endParaRPr lang="en-US" sz="2600" dirty="0"/>
          </a:p>
        </p:txBody>
      </p:sp>
      <p:sp>
        <p:nvSpPr>
          <p:cNvPr id="20" name="Text 16"/>
          <p:cNvSpPr/>
          <p:nvPr/>
        </p:nvSpPr>
        <p:spPr>
          <a:xfrm>
            <a:off x="6492240" y="2587752"/>
            <a:ext cx="2157984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Qualificação mensal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CIATox</a:t>
            </a:r>
            <a:endParaRPr lang="en-US" sz="1120" dirty="0"/>
          </a:p>
        </p:txBody>
      </p:sp>
      <p:sp>
        <p:nvSpPr>
          <p:cNvPr id="21" name="Shape 17"/>
          <p:cNvSpPr/>
          <p:nvPr/>
        </p:nvSpPr>
        <p:spPr>
          <a:xfrm>
            <a:off x="9116568" y="1874520"/>
            <a:ext cx="2487168" cy="1508760"/>
          </a:xfrm>
          <a:prstGeom prst="roundRect">
            <a:avLst>
              <a:gd name="adj" fmla="val 4848"/>
            </a:avLst>
          </a:prstGeom>
          <a:solidFill>
            <a:srgbClr val="FBEEDD"/>
          </a:solidFill>
          <a:ln w="15240">
            <a:solidFill>
              <a:srgbClr val="E67E22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9281160" y="2039112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R$ 17.742,78</a:t>
            </a:r>
            <a:endParaRPr lang="en-US" sz="2600" dirty="0"/>
          </a:p>
        </p:txBody>
      </p:sp>
      <p:sp>
        <p:nvSpPr>
          <p:cNvPr id="23" name="Text 19"/>
          <p:cNvSpPr/>
          <p:nvPr/>
        </p:nvSpPr>
        <p:spPr>
          <a:xfrm>
            <a:off x="9281160" y="2587752"/>
            <a:ext cx="2157984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2 médicos elegíveis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 × R$ 8.871,39)</a:t>
            </a:r>
            <a:endParaRPr lang="en-US" sz="1120" dirty="0"/>
          </a:p>
        </p:txBody>
      </p:sp>
      <p:sp>
        <p:nvSpPr>
          <p:cNvPr id="24" name="Shape 20"/>
          <p:cNvSpPr/>
          <p:nvPr/>
        </p:nvSpPr>
        <p:spPr>
          <a:xfrm>
            <a:off x="1298448" y="3794760"/>
            <a:ext cx="9418320" cy="1207008"/>
          </a:xfrm>
          <a:prstGeom prst="roundRect">
            <a:avLst>
              <a:gd name="adj" fmla="val 6061"/>
            </a:avLst>
          </a:prstGeom>
          <a:solidFill>
            <a:srgbClr val="F7FAFC"/>
          </a:solidFill>
          <a:ln w="17780">
            <a:solidFill>
              <a:srgbClr val="1F4E79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1600200" y="4023360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79"/>
                </a:solidFill>
              </a:rPr>
              <a:t>CENÁRIO POTENCIAL ESTIMADO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4617720" y="391363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F4E79"/>
                </a:solidFill>
              </a:rPr>
              <a:t>R$ 233.378,64 / mês</a:t>
            </a:r>
            <a:endParaRPr lang="en-US" sz="2500" dirty="0"/>
          </a:p>
        </p:txBody>
      </p:sp>
      <p:sp>
        <p:nvSpPr>
          <p:cNvPr id="27" name="Text 23"/>
          <p:cNvSpPr/>
          <p:nvPr/>
        </p:nvSpPr>
        <p:spPr>
          <a:xfrm>
            <a:off x="7726680" y="3959352"/>
            <a:ext cx="2651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9B3D"/>
                </a:solidFill>
              </a:rPr>
              <a:t>≈ R$ 2.800.543,68 / ano</a:t>
            </a:r>
            <a:endParaRPr lang="en-US" sz="1800" dirty="0"/>
          </a:p>
        </p:txBody>
      </p:sp>
      <p:sp>
        <p:nvSpPr>
          <p:cNvPr id="28" name="Text 24"/>
          <p:cNvSpPr/>
          <p:nvPr/>
        </p:nvSpPr>
        <p:spPr>
          <a:xfrm>
            <a:off x="1600200" y="4462272"/>
            <a:ext cx="8823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E666D"/>
                </a:solidFill>
              </a:rPr>
              <a:t>Simulação conservadora: o adicional de 30% foi aplicado somente ao custeio-base. A forma de incidência sobre outros componentes deve ser confirmada com o Ministério da Saúde.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1938528" y="5285232"/>
            <a:ext cx="8138160" cy="475488"/>
          </a:xfrm>
          <a:prstGeom prst="roundRect">
            <a:avLst>
              <a:gd name="adj" fmla="val 15385"/>
            </a:avLst>
          </a:prstGeom>
          <a:solidFill>
            <a:srgbClr val="FBEEDD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2157984" y="5440680"/>
            <a:ext cx="7726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F2933"/>
                </a:solidFill>
              </a:rPr>
              <a:t>Recurso federal não é automático: depende de habilitação, critérios, funcionamento efetivo e disponibilidade orçamentária federal.</a:t>
            </a:r>
            <a:endParaRPr lang="en-US" sz="1080" dirty="0"/>
          </a:p>
        </p:txBody>
      </p:sp>
      <p:sp>
        <p:nvSpPr>
          <p:cNvPr id="31" name="Text 27"/>
          <p:cNvSpPr/>
          <p:nvPr/>
        </p:nvSpPr>
        <p:spPr>
          <a:xfrm>
            <a:off x="685800" y="6181344"/>
            <a:ext cx="10149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i="1" dirty="0">
                <a:solidFill>
                  <a:srgbClr val="7884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Portaria GM/MS nº 12.151/2026, Anexo CIX e arts. 973-G, 973-H e 973-K.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2823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6F6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es_mt_logo_t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9728"/>
            <a:ext cx="2057400" cy="566928"/>
          </a:xfrm>
          <a:prstGeom prst="rect">
            <a:avLst/>
          </a:prstGeom>
        </p:spPr>
      </p:pic>
      <p:pic>
        <p:nvPicPr>
          <p:cNvPr id="3" name="Image 1" descr="/mnt/data/cievs_mt_logo_t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55448"/>
            <a:ext cx="1691640" cy="4572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074920" y="118872"/>
            <a:ext cx="393192" cy="39319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5230368" y="187452"/>
            <a:ext cx="8229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5143500" y="274320"/>
            <a:ext cx="256032" cy="822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 rot="720000">
            <a:off x="5468112" y="146304"/>
            <a:ext cx="420624" cy="393192"/>
          </a:xfrm>
          <a:prstGeom prst="arc">
            <a:avLst/>
          </a:prstGeom>
          <a:solidFill>
            <a:srgbClr val="FFFFFF">
              <a:alpha val="0"/>
            </a:srgbClr>
          </a:solidFill>
          <a:ln w="27940">
            <a:solidFill>
              <a:srgbClr val="5B9B3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532120" y="12801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CIATox-MT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5532120" y="393192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90" kern="0" dirty="0">
                <a:solidFill>
                  <a:srgbClr val="5B9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TOXICOLOGIA • VIGILÂNCIA • RESPOSTA</a:t>
            </a:r>
            <a:endParaRPr lang="en-US" sz="680" dirty="0"/>
          </a:p>
        </p:txBody>
      </p:sp>
      <p:sp>
        <p:nvSpPr>
          <p:cNvPr id="10" name="Text 6"/>
          <p:cNvSpPr/>
          <p:nvPr/>
        </p:nvSpPr>
        <p:spPr>
          <a:xfrm>
            <a:off x="685800" y="94183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Contrapartida estadual: aproveitar capacidade instalada</a:t>
            </a:r>
            <a:endParaRPr lang="en-US" sz="2500" dirty="0"/>
          </a:p>
        </p:txBody>
      </p:sp>
      <p:sp>
        <p:nvSpPr>
          <p:cNvPr id="11" name="Text 7"/>
          <p:cNvSpPr/>
          <p:nvPr/>
        </p:nvSpPr>
        <p:spPr>
          <a:xfrm>
            <a:off x="685800" y="1389888"/>
            <a:ext cx="10744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Portaria prevê custeio tripartite, mas não fixa percentual estadual no texto analisado.</a:t>
            </a:r>
            <a:endParaRPr lang="en-US" sz="11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835640" cy="3931920"/>
        </p:xfrm>
        <a:graphic>
          <a:graphicData uri="http://schemas.openxmlformats.org/drawingml/2006/table">
            <a:tbl>
              <a:tblPr/>
              <a:tblGrid>
                <a:gridCol w="2057400"/>
                <a:gridCol w="4754880"/>
                <a:gridCol w="402336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Componente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Contrapartida possível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Natureza do esforço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Escritórios Regionais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Pontos focais, articulação territorial, monitoramento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Predominantemente estrutura existente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CIEVS-MT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Toxicovigilância, alertas, investigação e resposta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Estrutura existente + integração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Lacen-MT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Exames, referência laboratorial e logística de amostras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Adequação conforme capacidade técnica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Assistência Farmacêutica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Rede de antídotos, estoques, validade e distribuição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Estrutura existente + tecnologia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RUE / Regulação / hospitais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Fluxos assistenciais e referências regionais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Organização de rede existente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STI / Dados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Painel, integração e inteligência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Desenvolvimento / integração incremental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Equipe CIATox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Plantão 24/7 e toxicologia clínica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Principal custo incremental a dimensionar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8"/>
          <p:cNvSpPr/>
          <p:nvPr/>
        </p:nvSpPr>
        <p:spPr>
          <a:xfrm>
            <a:off x="685800" y="1783080"/>
            <a:ext cx="10835640" cy="43891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768096" y="1911096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FFFFF"/>
                </a:solidFill>
              </a:rPr>
              <a:t>Componente</a:t>
            </a:r>
            <a:endParaRPr lang="en-US" sz="1060" dirty="0"/>
          </a:p>
        </p:txBody>
      </p:sp>
      <p:sp>
        <p:nvSpPr>
          <p:cNvPr id="15" name="Text 10"/>
          <p:cNvSpPr/>
          <p:nvPr/>
        </p:nvSpPr>
        <p:spPr>
          <a:xfrm>
            <a:off x="2761488" y="1911096"/>
            <a:ext cx="4434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FFFFF"/>
                </a:solidFill>
              </a:rPr>
              <a:t>Contrapartida possível</a:t>
            </a:r>
            <a:endParaRPr lang="en-US" sz="1060" dirty="0"/>
          </a:p>
        </p:txBody>
      </p:sp>
      <p:sp>
        <p:nvSpPr>
          <p:cNvPr id="16" name="Text 11"/>
          <p:cNvSpPr/>
          <p:nvPr/>
        </p:nvSpPr>
        <p:spPr>
          <a:xfrm>
            <a:off x="7543800" y="1911096"/>
            <a:ext cx="3703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FFFFF"/>
                </a:solidFill>
              </a:rPr>
              <a:t>Natureza do esforço</a:t>
            </a:r>
            <a:endParaRPr lang="en-US" sz="1060" dirty="0"/>
          </a:p>
        </p:txBody>
      </p:sp>
      <p:sp>
        <p:nvSpPr>
          <p:cNvPr id="17" name="Shape 12"/>
          <p:cNvSpPr/>
          <p:nvPr/>
        </p:nvSpPr>
        <p:spPr>
          <a:xfrm>
            <a:off x="1645920" y="5806440"/>
            <a:ext cx="8869680" cy="384048"/>
          </a:xfrm>
          <a:prstGeom prst="roundRect">
            <a:avLst>
              <a:gd name="adj" fmla="val 19048"/>
            </a:avLst>
          </a:prstGeom>
          <a:solidFill>
            <a:srgbClr val="EAF4E6"/>
          </a:solidFill>
          <a:ln w="12700">
            <a:solidFill>
              <a:srgbClr val="5B9B3D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1874520" y="5925312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5B9B3D"/>
                </a:solidFill>
              </a:rPr>
              <a:t>Mensagem-chave: contrapartida estadual não significa, necessariamente, criar toda a estrutura do zero.</a:t>
            </a:r>
            <a:endParaRPr lang="en-US" sz="1130" dirty="0"/>
          </a:p>
        </p:txBody>
      </p:sp>
      <p:sp>
        <p:nvSpPr>
          <p:cNvPr id="19" name="Text 14"/>
          <p:cNvSpPr/>
          <p:nvPr/>
        </p:nvSpPr>
        <p:spPr>
          <a:xfrm>
            <a:off x="685800" y="6181344"/>
            <a:ext cx="10149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i="1" dirty="0">
                <a:solidFill>
                  <a:srgbClr val="7884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 normativa: art. 973-X – responsabilidade compartilhada de custeio entre União, estados, DF e municípios.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2823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6F6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es_mt_logo_t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9728"/>
            <a:ext cx="2057400" cy="566928"/>
          </a:xfrm>
          <a:prstGeom prst="rect">
            <a:avLst/>
          </a:prstGeom>
        </p:spPr>
      </p:pic>
      <p:pic>
        <p:nvPicPr>
          <p:cNvPr id="3" name="Image 1" descr="/mnt/data/cievs_mt_logo_t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55448"/>
            <a:ext cx="1691640" cy="4572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074920" y="118872"/>
            <a:ext cx="393192" cy="39319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5230368" y="187452"/>
            <a:ext cx="8229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5143500" y="274320"/>
            <a:ext cx="256032" cy="822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 rot="720000">
            <a:off x="5468112" y="146304"/>
            <a:ext cx="420624" cy="393192"/>
          </a:xfrm>
          <a:prstGeom prst="arc">
            <a:avLst/>
          </a:prstGeom>
          <a:solidFill>
            <a:srgbClr val="FFFFFF">
              <a:alpha val="0"/>
            </a:srgbClr>
          </a:solidFill>
          <a:ln w="27940">
            <a:solidFill>
              <a:srgbClr val="5B9B3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532120" y="12801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CIATox-MT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5532120" y="393192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90" kern="0" dirty="0">
                <a:solidFill>
                  <a:srgbClr val="5B9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TOXICOLOGIA • VIGILÂNCIA • RESPOSTA</a:t>
            </a:r>
            <a:endParaRPr lang="en-US" sz="680" dirty="0"/>
          </a:p>
        </p:txBody>
      </p:sp>
      <p:sp>
        <p:nvSpPr>
          <p:cNvPr id="10" name="Text 6"/>
          <p:cNvSpPr/>
          <p:nvPr/>
        </p:nvSpPr>
        <p:spPr>
          <a:xfrm>
            <a:off x="685800" y="94183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Investimento: adequar o existente ou implantar nova estrutura?</a:t>
            </a:r>
            <a:endParaRPr lang="en-US" sz="2500" dirty="0"/>
          </a:p>
        </p:txBody>
      </p:sp>
      <p:sp>
        <p:nvSpPr>
          <p:cNvPr id="11" name="Text 7"/>
          <p:cNvSpPr/>
          <p:nvPr/>
        </p:nvSpPr>
        <p:spPr>
          <a:xfrm>
            <a:off x="685800" y="1389888"/>
            <a:ext cx="10744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nova Portaria também institui incentivo federal para construção de novos CIATox.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68680" y="1847088"/>
            <a:ext cx="4892040" cy="3246120"/>
          </a:xfrm>
          <a:prstGeom prst="roundRect">
            <a:avLst>
              <a:gd name="adj" fmla="val 2254"/>
            </a:avLst>
          </a:prstGeom>
          <a:solidFill>
            <a:srgbClr val="EEF5FA"/>
          </a:solidFill>
          <a:ln w="19050">
            <a:solidFill>
              <a:srgbClr val="1F4E7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143000" y="210312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CENÁRIO A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143000" y="2450592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F2933"/>
                </a:solidFill>
              </a:rPr>
              <a:t>Adequar / fortalecer estrutura existente</a:t>
            </a:r>
            <a:endParaRPr lang="en-US" sz="2100" dirty="0"/>
          </a:p>
        </p:txBody>
      </p:sp>
      <p:sp>
        <p:nvSpPr>
          <p:cNvPr id="15" name="Text 11"/>
          <p:cNvSpPr/>
          <p:nvPr/>
        </p:nvSpPr>
        <p:spPr>
          <a:xfrm>
            <a:off x="1170432" y="3090672"/>
            <a:ext cx="416052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98120" indent="-198120"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menor investimento inicial</a:t>
            </a:r>
            <a:endParaRPr lang="en-US" sz="1300" dirty="0"/>
          </a:p>
          <a:p>
            <a:pPr marL="198120" indent="-198120"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aproveita equipe e experiência já existentes</a:t>
            </a:r>
            <a:endParaRPr lang="en-US" sz="1300" dirty="0"/>
          </a:p>
          <a:p>
            <a:pPr marL="198120" indent="-198120"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exige pactuação de governança e cobertura estadual</a:t>
            </a:r>
            <a:endParaRPr lang="en-US" sz="1300" dirty="0"/>
          </a:p>
          <a:p>
            <a:pPr marL="198120" indent="-198120"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avaliar gaps de RH, laboratório, CNES e 24/7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28232" y="1847088"/>
            <a:ext cx="4892040" cy="3246120"/>
          </a:xfrm>
          <a:prstGeom prst="roundRect">
            <a:avLst>
              <a:gd name="adj" fmla="val 2254"/>
            </a:avLst>
          </a:prstGeom>
          <a:solidFill>
            <a:srgbClr val="FBEEDD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702552" y="210312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</a:rPr>
              <a:t>CENÁRIO B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702552" y="2450592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F2933"/>
                </a:solidFill>
              </a:rPr>
              <a:t>Implantar CIATox estadual próprio</a:t>
            </a:r>
            <a:endParaRPr lang="en-US" sz="2100" dirty="0"/>
          </a:p>
        </p:txBody>
      </p:sp>
      <p:sp>
        <p:nvSpPr>
          <p:cNvPr id="19" name="Text 15"/>
          <p:cNvSpPr/>
          <p:nvPr/>
        </p:nvSpPr>
        <p:spPr>
          <a:xfrm>
            <a:off x="6729984" y="3090672"/>
            <a:ext cx="416052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98120" indent="-198120"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possibilidade de incentivo federal de investimento</a:t>
            </a:r>
            <a:endParaRPr lang="en-US" sz="1300" dirty="0"/>
          </a:p>
          <a:p>
            <a:pPr marL="198120" indent="-198120"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maior autonomia estadual</a:t>
            </a:r>
            <a:endParaRPr lang="en-US" sz="1300" dirty="0"/>
          </a:p>
          <a:p>
            <a:pPr marL="198120" indent="-198120"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exige imóvel, projeto arquitetônico e estrutura completa</a:t>
            </a:r>
            <a:endParaRPr lang="en-US" sz="1300" dirty="0"/>
          </a:p>
          <a:p>
            <a:pPr marL="198120" indent="-198120"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maior custo de implantação e prazo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2377440" y="5413248"/>
            <a:ext cx="7406640" cy="502920"/>
          </a:xfrm>
          <a:prstGeom prst="roundRect">
            <a:avLst>
              <a:gd name="adj" fmla="val 14545"/>
            </a:avLst>
          </a:prstGeom>
          <a:solidFill>
            <a:srgbClr val="F7FAF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2606040" y="5586984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933"/>
                </a:solidFill>
              </a:rPr>
              <a:t>A decisão deve resultar de estudo técnico-econômico, e não ser pressuposta no início do projeto.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685800" y="6181344"/>
            <a:ext cx="10149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i="1" dirty="0">
                <a:solidFill>
                  <a:srgbClr val="7884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arts. 973-A a 973-E da Portaria GM/MS nº 12.151/2026.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2823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6F6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es_mt_logo_t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9728"/>
            <a:ext cx="2057400" cy="566928"/>
          </a:xfrm>
          <a:prstGeom prst="rect">
            <a:avLst/>
          </a:prstGeom>
        </p:spPr>
      </p:pic>
      <p:pic>
        <p:nvPicPr>
          <p:cNvPr id="3" name="Image 1" descr="/mnt/data/cievs_mt_logo_t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55448"/>
            <a:ext cx="1691640" cy="4572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074920" y="118872"/>
            <a:ext cx="393192" cy="39319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5230368" y="187452"/>
            <a:ext cx="8229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5143500" y="274320"/>
            <a:ext cx="256032" cy="822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 rot="720000">
            <a:off x="5468112" y="146304"/>
            <a:ext cx="420624" cy="393192"/>
          </a:xfrm>
          <a:prstGeom prst="arc">
            <a:avLst/>
          </a:prstGeom>
          <a:solidFill>
            <a:srgbClr val="FFFFFF">
              <a:alpha val="0"/>
            </a:srgbClr>
          </a:solidFill>
          <a:ln w="27940">
            <a:solidFill>
              <a:srgbClr val="5B9B3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532120" y="12801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CIATox-MT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5532120" y="393192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90" kern="0" dirty="0">
                <a:solidFill>
                  <a:srgbClr val="5B9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TOXICOLOGIA • VIGILÂNCIA • RESPOSTA</a:t>
            </a:r>
            <a:endParaRPr lang="en-US" sz="680" dirty="0"/>
          </a:p>
        </p:txBody>
      </p:sp>
      <p:sp>
        <p:nvSpPr>
          <p:cNvPr id="10" name="Text 6"/>
          <p:cNvSpPr/>
          <p:nvPr/>
        </p:nvSpPr>
        <p:spPr>
          <a:xfrm>
            <a:off x="685800" y="94183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Vantagens para a população</a:t>
            </a:r>
            <a:endParaRPr lang="en-US" sz="2500" dirty="0"/>
          </a:p>
        </p:txBody>
      </p:sp>
      <p:sp>
        <p:nvSpPr>
          <p:cNvPr id="11" name="Text 7"/>
          <p:cNvSpPr/>
          <p:nvPr/>
        </p:nvSpPr>
        <p:spPr>
          <a:xfrm>
            <a:off x="685800" y="1389888"/>
            <a:ext cx="10744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valor da rede deve ser percebido na velocidade, segurança e equidade do cuidado.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04672" y="1828800"/>
            <a:ext cx="3364992" cy="1664208"/>
          </a:xfrm>
          <a:prstGeom prst="roundRect">
            <a:avLst>
              <a:gd name="adj" fmla="val 4396"/>
            </a:avLst>
          </a:prstGeom>
          <a:solidFill>
            <a:srgbClr val="EEF5FA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50976" y="2002536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9"/>
                </a:solidFill>
              </a:rPr>
              <a:t>24/7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987552" y="2432304"/>
            <a:ext cx="2999232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40" dirty="0">
                <a:solidFill>
                  <a:srgbClr val="1F2933"/>
                </a:solidFill>
              </a:rPr>
              <a:t>Orientação toxicológica especializada em tempo oportuno.</a:t>
            </a:r>
            <a:endParaRPr lang="en-US" sz="1140" dirty="0"/>
          </a:p>
        </p:txBody>
      </p:sp>
      <p:sp>
        <p:nvSpPr>
          <p:cNvPr id="15" name="Shape 11"/>
          <p:cNvSpPr/>
          <p:nvPr/>
        </p:nvSpPr>
        <p:spPr>
          <a:xfrm>
            <a:off x="4535424" y="1828800"/>
            <a:ext cx="3364992" cy="1664208"/>
          </a:xfrm>
          <a:prstGeom prst="roundRect">
            <a:avLst>
              <a:gd name="adj" fmla="val 4396"/>
            </a:avLst>
          </a:prstGeom>
          <a:solidFill>
            <a:srgbClr val="EEF5FA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681728" y="2002536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9"/>
                </a:solidFill>
              </a:rPr>
              <a:t>EQUIDADE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718304" y="2432304"/>
            <a:ext cx="2999232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40" dirty="0">
                <a:solidFill>
                  <a:srgbClr val="1F2933"/>
                </a:solidFill>
              </a:rPr>
              <a:t>Municípios distantes passam a acessar expertise sem depender da presença física em Cuiabá.</a:t>
            </a:r>
            <a:endParaRPr lang="en-US" sz="1140" dirty="0"/>
          </a:p>
        </p:txBody>
      </p:sp>
      <p:sp>
        <p:nvSpPr>
          <p:cNvPr id="18" name="Shape 14"/>
          <p:cNvSpPr/>
          <p:nvPr/>
        </p:nvSpPr>
        <p:spPr>
          <a:xfrm>
            <a:off x="8266176" y="1828800"/>
            <a:ext cx="3364992" cy="1664208"/>
          </a:xfrm>
          <a:prstGeom prst="roundRect">
            <a:avLst>
              <a:gd name="adj" fmla="val 4396"/>
            </a:avLst>
          </a:prstGeom>
          <a:solidFill>
            <a:srgbClr val="EEF5FA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412480" y="2002536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9"/>
                </a:solidFill>
              </a:rPr>
              <a:t>CONDUTA SEGURA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8449056" y="2432304"/>
            <a:ext cx="2999232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40" dirty="0">
                <a:solidFill>
                  <a:srgbClr val="1F2933"/>
                </a:solidFill>
              </a:rPr>
              <a:t>Apoio a diagnóstico, gravidade, antídotos e necessidade de transferência.</a:t>
            </a:r>
            <a:endParaRPr lang="en-US" sz="1140" dirty="0"/>
          </a:p>
        </p:txBody>
      </p:sp>
      <p:sp>
        <p:nvSpPr>
          <p:cNvPr id="21" name="Shape 17"/>
          <p:cNvSpPr/>
          <p:nvPr/>
        </p:nvSpPr>
        <p:spPr>
          <a:xfrm>
            <a:off x="804672" y="3822192"/>
            <a:ext cx="3364992" cy="1664208"/>
          </a:xfrm>
          <a:prstGeom prst="roundRect">
            <a:avLst>
              <a:gd name="adj" fmla="val 4396"/>
            </a:avLst>
          </a:prstGeom>
          <a:solidFill>
            <a:srgbClr val="EAF4E6"/>
          </a:solidFill>
          <a:ln w="12700">
            <a:solidFill>
              <a:srgbClr val="5B9B3D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950976" y="3995928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9B3D"/>
                </a:solidFill>
              </a:rPr>
              <a:t>MENOS DESLOCAMENTOS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987552" y="4425696"/>
            <a:ext cx="2999232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40" dirty="0">
                <a:solidFill>
                  <a:srgbClr val="1F2933"/>
                </a:solidFill>
              </a:rPr>
              <a:t>Casos que puderem ser manejados localmente ou na região evitam transferências desnecessárias.</a:t>
            </a:r>
            <a:endParaRPr lang="en-US" sz="1140" dirty="0"/>
          </a:p>
        </p:txBody>
      </p:sp>
      <p:sp>
        <p:nvSpPr>
          <p:cNvPr id="24" name="Shape 20"/>
          <p:cNvSpPr/>
          <p:nvPr/>
        </p:nvSpPr>
        <p:spPr>
          <a:xfrm>
            <a:off x="4535424" y="3822192"/>
            <a:ext cx="3364992" cy="1664208"/>
          </a:xfrm>
          <a:prstGeom prst="roundRect">
            <a:avLst>
              <a:gd name="adj" fmla="val 4396"/>
            </a:avLst>
          </a:prstGeom>
          <a:solidFill>
            <a:srgbClr val="EAF4E6"/>
          </a:solidFill>
          <a:ln w="12700">
            <a:solidFill>
              <a:srgbClr val="5B9B3D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681728" y="3995928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9B3D"/>
                </a:solidFill>
              </a:rPr>
              <a:t>ANTÍDOTOS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4718304" y="4425696"/>
            <a:ext cx="2999232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40" dirty="0">
                <a:solidFill>
                  <a:srgbClr val="1F2933"/>
                </a:solidFill>
              </a:rPr>
              <a:t>Maior visibilidade sobre localização, validade e disponibilidade dos estoques.</a:t>
            </a:r>
            <a:endParaRPr lang="en-US" sz="1140" dirty="0"/>
          </a:p>
        </p:txBody>
      </p:sp>
      <p:sp>
        <p:nvSpPr>
          <p:cNvPr id="27" name="Shape 23"/>
          <p:cNvSpPr/>
          <p:nvPr/>
        </p:nvSpPr>
        <p:spPr>
          <a:xfrm>
            <a:off x="8266176" y="3822192"/>
            <a:ext cx="3364992" cy="1664208"/>
          </a:xfrm>
          <a:prstGeom prst="roundRect">
            <a:avLst>
              <a:gd name="adj" fmla="val 4396"/>
            </a:avLst>
          </a:prstGeom>
          <a:solidFill>
            <a:srgbClr val="EAF4E6"/>
          </a:solidFill>
          <a:ln w="12700">
            <a:solidFill>
              <a:srgbClr val="5B9B3D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8412480" y="3995928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9B3D"/>
                </a:solidFill>
              </a:rPr>
              <a:t>EMERGÊNCIAS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8449056" y="4425696"/>
            <a:ext cx="2999232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40" dirty="0">
                <a:solidFill>
                  <a:srgbClr val="1F2933"/>
                </a:solidFill>
              </a:rPr>
              <a:t>Melhor resposta a intoxicações coletivas, químicos, agrotóxicos, metanol e animais peçonhentos.</a:t>
            </a:r>
            <a:endParaRPr lang="en-US" sz="1140" dirty="0"/>
          </a:p>
        </p:txBody>
      </p:sp>
      <p:sp>
        <p:nvSpPr>
          <p:cNvPr id="30" name="Text 26"/>
          <p:cNvSpPr/>
          <p:nvPr/>
        </p:nvSpPr>
        <p:spPr>
          <a:xfrm>
            <a:off x="685800" y="6181344"/>
            <a:ext cx="10149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i="1" dirty="0">
                <a:solidFill>
                  <a:srgbClr val="7884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Benefícios esperados; deverão ser monitorados por indicadores após implantação.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2823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6F6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es_mt_logo_t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9728"/>
            <a:ext cx="2057400" cy="566928"/>
          </a:xfrm>
          <a:prstGeom prst="rect">
            <a:avLst/>
          </a:prstGeom>
        </p:spPr>
      </p:pic>
      <p:pic>
        <p:nvPicPr>
          <p:cNvPr id="3" name="Image 1" descr="/mnt/data/cievs_mt_logo_t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55448"/>
            <a:ext cx="1691640" cy="4572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074920" y="118872"/>
            <a:ext cx="393192" cy="39319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5230368" y="187452"/>
            <a:ext cx="8229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5143500" y="274320"/>
            <a:ext cx="256032" cy="822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 rot="720000">
            <a:off x="5468112" y="146304"/>
            <a:ext cx="420624" cy="393192"/>
          </a:xfrm>
          <a:prstGeom prst="arc">
            <a:avLst/>
          </a:prstGeom>
          <a:solidFill>
            <a:srgbClr val="FFFFFF">
              <a:alpha val="0"/>
            </a:srgbClr>
          </a:solidFill>
          <a:ln w="27940">
            <a:solidFill>
              <a:srgbClr val="5B9B3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532120" y="12801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CIATox-MT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5532120" y="393192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90" kern="0" dirty="0">
                <a:solidFill>
                  <a:srgbClr val="5B9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TOXICOLOGIA • VIGILÂNCIA • RESPOSTA</a:t>
            </a:r>
            <a:endParaRPr lang="en-US" sz="680" dirty="0"/>
          </a:p>
        </p:txBody>
      </p:sp>
      <p:sp>
        <p:nvSpPr>
          <p:cNvPr id="10" name="Text 6"/>
          <p:cNvSpPr/>
          <p:nvPr/>
        </p:nvSpPr>
        <p:spPr>
          <a:xfrm>
            <a:off x="685800" y="94183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Vantagens estratégicas para o Estado</a:t>
            </a:r>
            <a:endParaRPr lang="en-US" sz="2500" dirty="0"/>
          </a:p>
        </p:txBody>
      </p:sp>
      <p:sp>
        <p:nvSpPr>
          <p:cNvPr id="11" name="Text 7"/>
          <p:cNvSpPr/>
          <p:nvPr/>
        </p:nvSpPr>
        <p:spPr>
          <a:xfrm>
            <a:off x="685800" y="1389888"/>
            <a:ext cx="10744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projeto pode transformar capacidades dispersas em uma política estadual integrada.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22960" y="1874520"/>
            <a:ext cx="4983480" cy="3291840"/>
          </a:xfrm>
          <a:prstGeom prst="roundRect">
            <a:avLst>
              <a:gd name="adj" fmla="val 2222"/>
            </a:avLst>
          </a:prstGeom>
          <a:solidFill>
            <a:srgbClr val="EEF5FA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097280" y="214884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GESTÃO E FINANCIAMENTO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170432" y="2688336"/>
            <a:ext cx="416052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13360" indent="-213360"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Captação de novos recursos federais</a:t>
            </a:r>
            <a:endParaRPr lang="en-US" sz="1400" dirty="0"/>
          </a:p>
          <a:p>
            <a:pPr marL="213360" indent="-213360"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Governança única para toxicologia e toxicovigilância</a:t>
            </a:r>
            <a:endParaRPr lang="en-US" sz="1400" dirty="0"/>
          </a:p>
          <a:p>
            <a:pPr marL="213360" indent="-213360"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Fortalecimento dos Escritórios Regionais</a:t>
            </a:r>
            <a:endParaRPr lang="en-US" sz="1400" dirty="0"/>
          </a:p>
          <a:p>
            <a:pPr marL="213360" indent="-213360"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Melhor gestão de antídotos e soros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382512" y="1874520"/>
            <a:ext cx="4983480" cy="3291840"/>
          </a:xfrm>
          <a:prstGeom prst="roundRect">
            <a:avLst>
              <a:gd name="adj" fmla="val 2222"/>
            </a:avLst>
          </a:prstGeom>
          <a:solidFill>
            <a:srgbClr val="EAF4E6"/>
          </a:solidFill>
          <a:ln w="12700">
            <a:solidFill>
              <a:srgbClr val="5B9B3D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656832" y="214884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9B3D"/>
                </a:solidFill>
              </a:rPr>
              <a:t>REDE E INTELIGÊNCIA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729984" y="2688336"/>
            <a:ext cx="416052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13360" indent="-213360"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mais racional da rede hospitalar</a:t>
            </a:r>
            <a:endParaRPr lang="en-US" sz="1400" dirty="0"/>
          </a:p>
          <a:p>
            <a:pPr marL="213360" indent="-213360"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Fortalecimento da resposta às emergências</a:t>
            </a:r>
            <a:endParaRPr lang="en-US" sz="1400" dirty="0"/>
          </a:p>
          <a:p>
            <a:pPr marL="213360" indent="-213360"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Produção de inteligência epidemiológica</a:t>
            </a:r>
            <a:endParaRPr lang="en-US" sz="1400" dirty="0"/>
          </a:p>
          <a:p>
            <a:pPr marL="213360" indent="-213360"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 entre vigilância e assistência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1965960" y="5468112"/>
            <a:ext cx="8275320" cy="438912"/>
          </a:xfrm>
          <a:prstGeom prst="roundRect">
            <a:avLst>
              <a:gd name="adj" fmla="val 16667"/>
            </a:avLst>
          </a:prstGeom>
          <a:solidFill>
            <a:srgbClr val="FBEEDD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212848" y="5614416"/>
            <a:ext cx="7818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F2933"/>
                </a:solidFill>
              </a:rPr>
              <a:t>Resultado esperado: maior capacidade estadual de prevenir, detectar, responder e aprender com eventos toxicológicos.</a:t>
            </a:r>
            <a:endParaRPr lang="en-US" sz="1160" dirty="0"/>
          </a:p>
        </p:txBody>
      </p:sp>
      <p:sp>
        <p:nvSpPr>
          <p:cNvPr id="20" name="Text 16"/>
          <p:cNvSpPr/>
          <p:nvPr/>
        </p:nvSpPr>
        <p:spPr>
          <a:xfrm>
            <a:off x="685800" y="6181344"/>
            <a:ext cx="10149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i="1" dirty="0">
                <a:solidFill>
                  <a:srgbClr val="7884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 dos ganhos institucionais esperados do modelo integrado.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2823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6F6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es_mt_logo_t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9728"/>
            <a:ext cx="2057400" cy="566928"/>
          </a:xfrm>
          <a:prstGeom prst="rect">
            <a:avLst/>
          </a:prstGeom>
        </p:spPr>
      </p:pic>
      <p:pic>
        <p:nvPicPr>
          <p:cNvPr id="3" name="Image 1" descr="/mnt/data/cievs_mt_logo_t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55448"/>
            <a:ext cx="1691640" cy="4572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074920" y="118872"/>
            <a:ext cx="393192" cy="39319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5230368" y="187452"/>
            <a:ext cx="8229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5143500" y="274320"/>
            <a:ext cx="256032" cy="822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 rot="720000">
            <a:off x="5468112" y="146304"/>
            <a:ext cx="420624" cy="393192"/>
          </a:xfrm>
          <a:prstGeom prst="arc">
            <a:avLst/>
          </a:prstGeom>
          <a:solidFill>
            <a:srgbClr val="FFFFFF">
              <a:alpha val="0"/>
            </a:srgbClr>
          </a:solidFill>
          <a:ln w="27940">
            <a:solidFill>
              <a:srgbClr val="5B9B3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532120" y="12801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CIATox-MT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5532120" y="393192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90" kern="0" dirty="0">
                <a:solidFill>
                  <a:srgbClr val="5B9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TOXICOLOGIA • VIGILÂNCIA • RESPOSTA</a:t>
            </a:r>
            <a:endParaRPr lang="en-US" sz="680" dirty="0"/>
          </a:p>
        </p:txBody>
      </p:sp>
      <p:sp>
        <p:nvSpPr>
          <p:cNvPr id="10" name="Text 6"/>
          <p:cNvSpPr/>
          <p:nvPr/>
        </p:nvSpPr>
        <p:spPr>
          <a:xfrm>
            <a:off x="685800" y="94183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 Dois produtos estruturantes desde o início</a:t>
            </a:r>
            <a:endParaRPr lang="en-US" sz="2500" dirty="0"/>
          </a:p>
        </p:txBody>
      </p:sp>
      <p:sp>
        <p:nvSpPr>
          <p:cNvPr id="11" name="Text 7"/>
          <p:cNvSpPr/>
          <p:nvPr/>
        </p:nvSpPr>
        <p:spPr>
          <a:xfrm>
            <a:off x="685800" y="1389888"/>
            <a:ext cx="10744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 Estadual de Antídotos + Toxicovigilância integrada.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22960" y="1828800"/>
            <a:ext cx="5074920" cy="3520440"/>
          </a:xfrm>
          <a:prstGeom prst="roundRect">
            <a:avLst>
              <a:gd name="adj" fmla="val 2078"/>
            </a:avLst>
          </a:prstGeom>
          <a:solidFill>
            <a:srgbClr val="EEF5FA"/>
          </a:solidFill>
          <a:ln w="19050">
            <a:solidFill>
              <a:srgbClr val="1F4E7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097280" y="2084832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F4E79"/>
                </a:solidFill>
              </a:rPr>
              <a:t>REDE ESTADUAL DE ANTÍDOTOS E SOROS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1234440" y="2560320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E666D"/>
                </a:solidFill>
              </a:rPr>
              <a:t>Visão estadual em tempo quase real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1078992" y="3063240"/>
            <a:ext cx="1298448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152144" y="3218688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F2933"/>
                </a:solidFill>
              </a:rPr>
              <a:t>produto</a:t>
            </a:r>
            <a:endParaRPr lang="en-US" sz="1020" dirty="0"/>
          </a:p>
        </p:txBody>
      </p:sp>
      <p:sp>
        <p:nvSpPr>
          <p:cNvPr id="17" name="Shape 13"/>
          <p:cNvSpPr/>
          <p:nvPr/>
        </p:nvSpPr>
        <p:spPr>
          <a:xfrm>
            <a:off x="2560320" y="3063240"/>
            <a:ext cx="1298448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633472" y="3218688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F2933"/>
                </a:solidFill>
              </a:rPr>
              <a:t>quantidade</a:t>
            </a:r>
            <a:endParaRPr lang="en-US" sz="1020" dirty="0"/>
          </a:p>
        </p:txBody>
      </p:sp>
      <p:sp>
        <p:nvSpPr>
          <p:cNvPr id="19" name="Shape 15"/>
          <p:cNvSpPr/>
          <p:nvPr/>
        </p:nvSpPr>
        <p:spPr>
          <a:xfrm>
            <a:off x="4041648" y="3063240"/>
            <a:ext cx="1298448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114800" y="3218688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F2933"/>
                </a:solidFill>
              </a:rPr>
              <a:t>validade</a:t>
            </a:r>
            <a:endParaRPr lang="en-US" sz="1020" dirty="0"/>
          </a:p>
        </p:txBody>
      </p:sp>
      <p:sp>
        <p:nvSpPr>
          <p:cNvPr id="21" name="Shape 17"/>
          <p:cNvSpPr/>
          <p:nvPr/>
        </p:nvSpPr>
        <p:spPr>
          <a:xfrm>
            <a:off x="1078992" y="3749040"/>
            <a:ext cx="1298448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1152144" y="3904488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F2933"/>
                </a:solidFill>
              </a:rPr>
              <a:t>localização</a:t>
            </a:r>
            <a:endParaRPr lang="en-US" sz="1020" dirty="0"/>
          </a:p>
        </p:txBody>
      </p:sp>
      <p:sp>
        <p:nvSpPr>
          <p:cNvPr id="23" name="Shape 19"/>
          <p:cNvSpPr/>
          <p:nvPr/>
        </p:nvSpPr>
        <p:spPr>
          <a:xfrm>
            <a:off x="2560320" y="3749040"/>
            <a:ext cx="1298448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2633472" y="3904488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F2933"/>
                </a:solidFill>
              </a:rPr>
              <a:t>disponibilidade</a:t>
            </a:r>
            <a:endParaRPr lang="en-US" sz="1020" dirty="0"/>
          </a:p>
        </p:txBody>
      </p:sp>
      <p:sp>
        <p:nvSpPr>
          <p:cNvPr id="25" name="Shape 21"/>
          <p:cNvSpPr/>
          <p:nvPr/>
        </p:nvSpPr>
        <p:spPr>
          <a:xfrm>
            <a:off x="4041648" y="3749040"/>
            <a:ext cx="1298448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114800" y="3904488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F2933"/>
                </a:solidFill>
              </a:rPr>
              <a:t>tempo de acesso</a:t>
            </a:r>
            <a:endParaRPr lang="en-US" sz="1020" dirty="0"/>
          </a:p>
        </p:txBody>
      </p:sp>
      <p:sp>
        <p:nvSpPr>
          <p:cNvPr id="27" name="Text 23"/>
          <p:cNvSpPr/>
          <p:nvPr/>
        </p:nvSpPr>
        <p:spPr>
          <a:xfrm>
            <a:off x="1143000" y="452628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1F2933"/>
                </a:solidFill>
              </a:rPr>
              <a:t>ERS acompanham a realidade regional; Assistência Farmacêutica coordena estoques; CIATox apoia indicação clínica.</a:t>
            </a:r>
            <a:endParaRPr lang="en-US" sz="1080" dirty="0"/>
          </a:p>
        </p:txBody>
      </p:sp>
      <p:sp>
        <p:nvSpPr>
          <p:cNvPr id="28" name="Shape 24"/>
          <p:cNvSpPr/>
          <p:nvPr/>
        </p:nvSpPr>
        <p:spPr>
          <a:xfrm>
            <a:off x="6291072" y="1828800"/>
            <a:ext cx="5074920" cy="3520440"/>
          </a:xfrm>
          <a:prstGeom prst="roundRect">
            <a:avLst>
              <a:gd name="adj" fmla="val 2078"/>
            </a:avLst>
          </a:prstGeom>
          <a:solidFill>
            <a:srgbClr val="EAF4E6"/>
          </a:solidFill>
          <a:ln w="19050">
            <a:solidFill>
              <a:srgbClr val="5B9B3D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565392" y="2084832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5B9B3D"/>
                </a:solidFill>
              </a:rPr>
              <a:t>TOXICOVIGILÂNCIA INTEGRADA</a:t>
            </a:r>
            <a:endParaRPr lang="en-US" sz="1650" dirty="0"/>
          </a:p>
        </p:txBody>
      </p:sp>
      <p:sp>
        <p:nvSpPr>
          <p:cNvPr id="30" name="Shape 26"/>
          <p:cNvSpPr/>
          <p:nvPr/>
        </p:nvSpPr>
        <p:spPr>
          <a:xfrm>
            <a:off x="7333488" y="2761488"/>
            <a:ext cx="297180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7452360" y="2852928"/>
            <a:ext cx="2743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90" dirty="0">
                <a:solidFill>
                  <a:srgbClr val="1F2933"/>
                </a:solidFill>
              </a:rPr>
              <a:t>Hospital / Município</a:t>
            </a:r>
            <a:endParaRPr lang="en-US" sz="990" dirty="0"/>
          </a:p>
        </p:txBody>
      </p:sp>
      <p:sp>
        <p:nvSpPr>
          <p:cNvPr id="32" name="Text 28"/>
          <p:cNvSpPr/>
          <p:nvPr/>
        </p:nvSpPr>
        <p:spPr>
          <a:xfrm>
            <a:off x="8659368" y="3044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9939C"/>
                </a:solidFill>
              </a:rPr>
              <a:t>↓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7333488" y="3163824"/>
            <a:ext cx="297180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7452360" y="3255264"/>
            <a:ext cx="2743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1F4E79"/>
                </a:solidFill>
              </a:rPr>
              <a:t>CIATox-MT</a:t>
            </a:r>
            <a:endParaRPr lang="en-US" sz="990" dirty="0"/>
          </a:p>
        </p:txBody>
      </p:sp>
      <p:sp>
        <p:nvSpPr>
          <p:cNvPr id="35" name="Text 31"/>
          <p:cNvSpPr/>
          <p:nvPr/>
        </p:nvSpPr>
        <p:spPr>
          <a:xfrm>
            <a:off x="8659368" y="344728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9939C"/>
                </a:solidFill>
              </a:rPr>
              <a:t>↓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7333488" y="3566160"/>
            <a:ext cx="297180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7452360" y="3657600"/>
            <a:ext cx="2743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90" dirty="0">
                <a:solidFill>
                  <a:srgbClr val="1F2933"/>
                </a:solidFill>
              </a:rPr>
              <a:t>ERS</a:t>
            </a:r>
            <a:endParaRPr lang="en-US" sz="990" dirty="0"/>
          </a:p>
        </p:txBody>
      </p:sp>
      <p:sp>
        <p:nvSpPr>
          <p:cNvPr id="38" name="Text 34"/>
          <p:cNvSpPr/>
          <p:nvPr/>
        </p:nvSpPr>
        <p:spPr>
          <a:xfrm>
            <a:off x="8659368" y="384962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9939C"/>
                </a:solidFill>
              </a:rPr>
              <a:t>↓</a:t>
            </a:r>
            <a:endParaRPr lang="en-US" sz="1100" dirty="0"/>
          </a:p>
        </p:txBody>
      </p:sp>
      <p:sp>
        <p:nvSpPr>
          <p:cNvPr id="39" name="Shape 35"/>
          <p:cNvSpPr/>
          <p:nvPr/>
        </p:nvSpPr>
        <p:spPr>
          <a:xfrm>
            <a:off x="7333488" y="3968496"/>
            <a:ext cx="297180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7452360" y="4059936"/>
            <a:ext cx="2743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5B9B3D"/>
                </a:solidFill>
              </a:rPr>
              <a:t>CIEVS-MT</a:t>
            </a:r>
            <a:endParaRPr lang="en-US" sz="990" dirty="0"/>
          </a:p>
        </p:txBody>
      </p:sp>
      <p:sp>
        <p:nvSpPr>
          <p:cNvPr id="41" name="Text 37"/>
          <p:cNvSpPr/>
          <p:nvPr/>
        </p:nvSpPr>
        <p:spPr>
          <a:xfrm>
            <a:off x="8659368" y="42519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9939C"/>
                </a:solidFill>
              </a:rPr>
              <a:t>↓</a:t>
            </a:r>
            <a:endParaRPr lang="en-US" sz="1100" dirty="0"/>
          </a:p>
        </p:txBody>
      </p:sp>
      <p:sp>
        <p:nvSpPr>
          <p:cNvPr id="42" name="Shape 38"/>
          <p:cNvSpPr/>
          <p:nvPr/>
        </p:nvSpPr>
        <p:spPr>
          <a:xfrm>
            <a:off x="7333488" y="4370832"/>
            <a:ext cx="297180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7452360" y="4462272"/>
            <a:ext cx="2743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90" dirty="0">
                <a:solidFill>
                  <a:srgbClr val="1F2933"/>
                </a:solidFill>
              </a:rPr>
              <a:t>Lacen / Vigilâncias</a:t>
            </a:r>
            <a:endParaRPr lang="en-US" sz="990" dirty="0"/>
          </a:p>
        </p:txBody>
      </p:sp>
      <p:sp>
        <p:nvSpPr>
          <p:cNvPr id="44" name="Text 40"/>
          <p:cNvSpPr/>
          <p:nvPr/>
        </p:nvSpPr>
        <p:spPr>
          <a:xfrm>
            <a:off x="8659368" y="465429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9939C"/>
                </a:solidFill>
              </a:rPr>
              <a:t>↓</a:t>
            </a:r>
            <a:endParaRPr lang="en-US" sz="1100" dirty="0"/>
          </a:p>
        </p:txBody>
      </p:sp>
      <p:sp>
        <p:nvSpPr>
          <p:cNvPr id="45" name="Shape 41"/>
          <p:cNvSpPr/>
          <p:nvPr/>
        </p:nvSpPr>
        <p:spPr>
          <a:xfrm>
            <a:off x="7333488" y="4773168"/>
            <a:ext cx="297180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7452360" y="4864608"/>
            <a:ext cx="2743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90" dirty="0">
                <a:solidFill>
                  <a:srgbClr val="1F2933"/>
                </a:solidFill>
              </a:rPr>
              <a:t>Resposta</a:t>
            </a:r>
            <a:endParaRPr lang="en-US" sz="990" dirty="0"/>
          </a:p>
        </p:txBody>
      </p:sp>
      <p:sp>
        <p:nvSpPr>
          <p:cNvPr id="47" name="Text 43"/>
          <p:cNvSpPr/>
          <p:nvPr/>
        </p:nvSpPr>
        <p:spPr>
          <a:xfrm>
            <a:off x="6720840" y="4663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3"/>
                </a:solidFill>
              </a:rPr>
              <a:t>Detectar clusters, sinais incomuns e riscos coletivos com maior oportunidade.</a:t>
            </a:r>
            <a:endParaRPr lang="en-US" sz="1100" dirty="0"/>
          </a:p>
        </p:txBody>
      </p:sp>
      <p:sp>
        <p:nvSpPr>
          <p:cNvPr id="48" name="Text 44"/>
          <p:cNvSpPr/>
          <p:nvPr/>
        </p:nvSpPr>
        <p:spPr>
          <a:xfrm>
            <a:off x="685800" y="6181344"/>
            <a:ext cx="10149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i="1" dirty="0">
                <a:solidFill>
                  <a:srgbClr val="7884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Portaria prevê Núcleo de Antídotos e Núcleo de Vigilância na composição do CIATox.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2823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6F6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es_mt_logo_t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9728"/>
            <a:ext cx="2057400" cy="566928"/>
          </a:xfrm>
          <a:prstGeom prst="rect">
            <a:avLst/>
          </a:prstGeom>
        </p:spPr>
      </p:pic>
      <p:pic>
        <p:nvPicPr>
          <p:cNvPr id="3" name="Image 1" descr="/mnt/data/cievs_mt_logo_t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55448"/>
            <a:ext cx="1691640" cy="4572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074920" y="118872"/>
            <a:ext cx="393192" cy="39319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5230368" y="187452"/>
            <a:ext cx="8229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5143500" y="274320"/>
            <a:ext cx="256032" cy="822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 rot="720000">
            <a:off x="5468112" y="146304"/>
            <a:ext cx="420624" cy="393192"/>
          </a:xfrm>
          <a:prstGeom prst="arc">
            <a:avLst/>
          </a:prstGeom>
          <a:solidFill>
            <a:srgbClr val="FFFFFF">
              <a:alpha val="0"/>
            </a:srgbClr>
          </a:solidFill>
          <a:ln w="27940">
            <a:solidFill>
              <a:srgbClr val="5B9B3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532120" y="12801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CIATox-MT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5532120" y="393192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90" kern="0" dirty="0">
                <a:solidFill>
                  <a:srgbClr val="5B9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TOXICOLOGIA • VIGILÂNCIA • RESPOSTA</a:t>
            </a:r>
            <a:endParaRPr lang="en-US" sz="680" dirty="0"/>
          </a:p>
        </p:txBody>
      </p:sp>
      <p:sp>
        <p:nvSpPr>
          <p:cNvPr id="10" name="Text 6"/>
          <p:cNvSpPr/>
          <p:nvPr/>
        </p:nvSpPr>
        <p:spPr>
          <a:xfrm>
            <a:off x="685800" y="94183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 Primeira decisão: estudo técnico em 60 dias</a:t>
            </a:r>
            <a:endParaRPr lang="en-US" sz="2500" dirty="0"/>
          </a:p>
        </p:txBody>
      </p:sp>
      <p:sp>
        <p:nvSpPr>
          <p:cNvPr id="11" name="Text 7"/>
          <p:cNvSpPr/>
          <p:nvPr/>
        </p:nvSpPr>
        <p:spPr>
          <a:xfrm>
            <a:off x="685800" y="1389888"/>
            <a:ext cx="10744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Propõe-se iniciar com um GT estadual e produtos objetivos para decisão do Secretário.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1435608" y="1993392"/>
            <a:ext cx="1234440" cy="62179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435608" y="218541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0–15 dias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2670048" y="2304288"/>
            <a:ext cx="932688" cy="0"/>
          </a:xfrm>
          <a:prstGeom prst="line">
            <a:avLst/>
          </a:prstGeom>
          <a:noFill/>
          <a:ln w="25400">
            <a:solidFill>
              <a:srgbClr val="89939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288036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41832" y="3218688"/>
            <a:ext cx="2231136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3"/>
                </a:solidFill>
              </a:rPr>
              <a:t>Instituir GT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dirty="0">
                <a:solidFill>
                  <a:srgbClr val="1F2933"/>
                </a:solidFill>
              </a:rPr>
              <a:t>Definir coordenação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dirty="0">
                <a:solidFill>
                  <a:srgbClr val="1F2933"/>
                </a:solidFill>
              </a:rPr>
              <a:t>Solicitar dados</a:t>
            </a:r>
            <a:endParaRPr lang="en-US" sz="1220" dirty="0"/>
          </a:p>
        </p:txBody>
      </p:sp>
      <p:sp>
        <p:nvSpPr>
          <p:cNvPr id="17" name="Shape 13"/>
          <p:cNvSpPr/>
          <p:nvPr/>
        </p:nvSpPr>
        <p:spPr>
          <a:xfrm>
            <a:off x="4251960" y="1993392"/>
            <a:ext cx="1234440" cy="62179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251960" y="218541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15–30 dias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5486400" y="2304288"/>
            <a:ext cx="932688" cy="0"/>
          </a:xfrm>
          <a:prstGeom prst="line">
            <a:avLst/>
          </a:prstGeom>
          <a:noFill/>
          <a:ln w="25400">
            <a:solidFill>
              <a:srgbClr val="89939C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593592" y="288036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EEF5FA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758184" y="3218688"/>
            <a:ext cx="2231136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3"/>
                </a:solidFill>
              </a:rPr>
              <a:t>Diagnóstico CIATox atual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dirty="0">
                <a:solidFill>
                  <a:srgbClr val="1F2933"/>
                </a:solidFill>
              </a:rPr>
              <a:t>Diagnóstico ERS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dirty="0">
                <a:solidFill>
                  <a:srgbClr val="1F2933"/>
                </a:solidFill>
              </a:rPr>
              <a:t>Mapear antídotos</a:t>
            </a:r>
            <a:endParaRPr lang="en-US" sz="1220" dirty="0"/>
          </a:p>
        </p:txBody>
      </p:sp>
      <p:sp>
        <p:nvSpPr>
          <p:cNvPr id="22" name="Shape 18"/>
          <p:cNvSpPr/>
          <p:nvPr/>
        </p:nvSpPr>
        <p:spPr>
          <a:xfrm>
            <a:off x="7068312" y="1993392"/>
            <a:ext cx="1234440" cy="62179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068312" y="218541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30–45 dias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8302752" y="2304288"/>
            <a:ext cx="932688" cy="0"/>
          </a:xfrm>
          <a:prstGeom prst="line">
            <a:avLst/>
          </a:prstGeom>
          <a:noFill/>
          <a:ln w="25400">
            <a:solidFill>
              <a:srgbClr val="89939C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409944" y="288036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574536" y="3218688"/>
            <a:ext cx="2231136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3"/>
                </a:solidFill>
              </a:rPr>
              <a:t>Gap analysis da Portaria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dirty="0">
                <a:solidFill>
                  <a:srgbClr val="1F2933"/>
                </a:solidFill>
              </a:rPr>
              <a:t>Lacen e RH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dirty="0">
                <a:solidFill>
                  <a:srgbClr val="1F2933"/>
                </a:solidFill>
              </a:rPr>
              <a:t>Modelos de governança</a:t>
            </a:r>
            <a:endParaRPr lang="en-US" sz="1220" dirty="0"/>
          </a:p>
        </p:txBody>
      </p:sp>
      <p:sp>
        <p:nvSpPr>
          <p:cNvPr id="27" name="Shape 23"/>
          <p:cNvSpPr/>
          <p:nvPr/>
        </p:nvSpPr>
        <p:spPr>
          <a:xfrm>
            <a:off x="9884664" y="1993392"/>
            <a:ext cx="1234440" cy="621792"/>
          </a:xfrm>
          <a:prstGeom prst="ellipse">
            <a:avLst/>
          </a:prstGeom>
          <a:solidFill>
            <a:srgbClr val="5B9B3D"/>
          </a:solidFill>
          <a:ln w="12700">
            <a:solidFill>
              <a:srgbClr val="5B9B3D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9884664" y="218541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45–60 dias</a:t>
            </a:r>
            <a:endParaRPr lang="en-US" sz="1400" dirty="0"/>
          </a:p>
        </p:txBody>
      </p:sp>
      <p:sp>
        <p:nvSpPr>
          <p:cNvPr id="29" name="Shape 25"/>
          <p:cNvSpPr/>
          <p:nvPr/>
        </p:nvSpPr>
        <p:spPr>
          <a:xfrm>
            <a:off x="9226296" y="288036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EEF5FA"/>
          </a:solidFill>
          <a:ln w="12700">
            <a:solidFill>
              <a:srgbClr val="5B9B3D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9390888" y="3218688"/>
            <a:ext cx="2231136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F2933"/>
                </a:solidFill>
              </a:rPr>
              <a:t>Estudo econômico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1F2933"/>
                </a:solidFill>
              </a:rPr>
              <a:t>Modelo recomendado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1F2933"/>
                </a:solidFill>
              </a:rPr>
              <a:t>Minuta para CIR/CIB/SAIPS</a:t>
            </a:r>
            <a:endParaRPr lang="en-US" sz="1220" dirty="0"/>
          </a:p>
        </p:txBody>
      </p:sp>
      <p:sp>
        <p:nvSpPr>
          <p:cNvPr id="31" name="Shape 27"/>
          <p:cNvSpPr/>
          <p:nvPr/>
        </p:nvSpPr>
        <p:spPr>
          <a:xfrm>
            <a:off x="1938528" y="5230368"/>
            <a:ext cx="8275320" cy="502920"/>
          </a:xfrm>
          <a:prstGeom prst="roundRect">
            <a:avLst>
              <a:gd name="adj" fmla="val 14545"/>
            </a:avLst>
          </a:prstGeom>
          <a:solidFill>
            <a:srgbClr val="FBEEDD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2194560" y="5404104"/>
            <a:ext cx="7772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F2933"/>
                </a:solidFill>
              </a:rPr>
              <a:t>Entrega ao final de 60 dias: proposta institucional, financeira e assistencial pronta para decisão e pactuação.</a:t>
            </a:r>
            <a:endParaRPr lang="en-US" sz="1220" dirty="0"/>
          </a:p>
        </p:txBody>
      </p:sp>
      <p:sp>
        <p:nvSpPr>
          <p:cNvPr id="33" name="Text 29"/>
          <p:cNvSpPr/>
          <p:nvPr/>
        </p:nvSpPr>
        <p:spPr>
          <a:xfrm>
            <a:off x="685800" y="6181344"/>
            <a:ext cx="10149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i="1" dirty="0">
                <a:solidFill>
                  <a:srgbClr val="7884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Prazo proposto para elaboração do Projeto Técnico e estudo de viabilidade.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2823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6F6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es_mt_logo_t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9728"/>
            <a:ext cx="2057400" cy="566928"/>
          </a:xfrm>
          <a:prstGeom prst="rect">
            <a:avLst/>
          </a:prstGeom>
        </p:spPr>
      </p:pic>
      <p:pic>
        <p:nvPicPr>
          <p:cNvPr id="3" name="Image 1" descr="/mnt/data/cievs_mt_logo_t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55448"/>
            <a:ext cx="1691640" cy="4572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074920" y="118872"/>
            <a:ext cx="393192" cy="39319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5230368" y="187452"/>
            <a:ext cx="8229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5143500" y="274320"/>
            <a:ext cx="256032" cy="822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 rot="720000">
            <a:off x="5468112" y="146304"/>
            <a:ext cx="420624" cy="393192"/>
          </a:xfrm>
          <a:prstGeom prst="arc">
            <a:avLst/>
          </a:prstGeom>
          <a:solidFill>
            <a:srgbClr val="FFFFFF">
              <a:alpha val="0"/>
            </a:srgbClr>
          </a:solidFill>
          <a:ln w="27940">
            <a:solidFill>
              <a:srgbClr val="5B9B3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532120" y="12801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CIATox-MT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5532120" y="393192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90" kern="0" dirty="0">
                <a:solidFill>
                  <a:srgbClr val="5B9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TOXICOLOGIA • VIGILÂNCIA • RESPOSTA</a:t>
            </a:r>
            <a:endParaRPr lang="en-US" sz="680" dirty="0"/>
          </a:p>
        </p:txBody>
      </p:sp>
      <p:sp>
        <p:nvSpPr>
          <p:cNvPr id="10" name="Text 6"/>
          <p:cNvSpPr/>
          <p:nvPr/>
        </p:nvSpPr>
        <p:spPr>
          <a:xfrm>
            <a:off x="685800" y="94183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 Horizonte de implantação</a:t>
            </a:r>
            <a:endParaRPr lang="en-US" sz="2500" dirty="0"/>
          </a:p>
        </p:txBody>
      </p:sp>
      <p:sp>
        <p:nvSpPr>
          <p:cNvPr id="11" name="Text 7"/>
          <p:cNvSpPr/>
          <p:nvPr/>
        </p:nvSpPr>
        <p:spPr>
          <a:xfrm>
            <a:off x="685800" y="1389888"/>
            <a:ext cx="10744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Após a decisão institucional, o projeto pode avançar em etapas mensuráveis.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68680" y="1828800"/>
            <a:ext cx="3200400" cy="347472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20320">
            <a:solidFill>
              <a:srgbClr val="1F4E79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68680" y="1828800"/>
            <a:ext cx="3200400" cy="5669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051560" y="202996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ATÉ 90 DIAS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161288" y="2697480"/>
            <a:ext cx="2615184" cy="2148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</a:rPr>
              <a:t>• modelo institucional definido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</a:rPr>
              <a:t>• pactuações iniciadas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</a:rPr>
              <a:t>• mapa da rede e antídotos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</a:rPr>
              <a:t>• fluxos prioritários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</a:rPr>
              <a:t>• plano de RH e laboratório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498848" y="1828800"/>
            <a:ext cx="3200400" cy="347472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20320">
            <a:solidFill>
              <a:srgbClr val="2F75B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498848" y="1828800"/>
            <a:ext cx="3200400" cy="566928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681728" y="202996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ATÉ 180 DIAS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4791456" y="2697480"/>
            <a:ext cx="2615184" cy="2148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</a:rPr>
              <a:t>• CNES / PAR-RUE / CIB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</a:rPr>
              <a:t>• equipe organizada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</a:rPr>
              <a:t>• teleconsultoria estruturada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</a:rPr>
              <a:t>• integração Lacen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</a:rPr>
              <a:t>• capacitação regional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8129016" y="1828800"/>
            <a:ext cx="3200400" cy="347472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20320">
            <a:solidFill>
              <a:srgbClr val="5B9B3D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129016" y="1828800"/>
            <a:ext cx="3200400" cy="566928"/>
          </a:xfrm>
          <a:prstGeom prst="rect">
            <a:avLst/>
          </a:prstGeom>
          <a:solidFill>
            <a:srgbClr val="5B9B3D"/>
          </a:solidFill>
          <a:ln w="12700">
            <a:solidFill>
              <a:srgbClr val="5B9B3D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311896" y="202996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ATÉ 365 DIAS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8421624" y="2697480"/>
            <a:ext cx="2615184" cy="2148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</a:rPr>
              <a:t>• cobertura estadual operacional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</a:rPr>
              <a:t>• monitoramento de indicadores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</a:rPr>
              <a:t>• painel de toxicovigilância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</a:rPr>
              <a:t>• rede de antídotos consolidada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</a:rPr>
              <a:t>• habilitação/qualificação federal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2331720" y="5513832"/>
            <a:ext cx="7498080" cy="457200"/>
          </a:xfrm>
          <a:prstGeom prst="roundRect">
            <a:avLst>
              <a:gd name="adj" fmla="val 16000"/>
            </a:avLst>
          </a:prstGeom>
          <a:solidFill>
            <a:srgbClr val="EEF5FA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2578608" y="5660136"/>
            <a:ext cx="6995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F4E79"/>
                </a:solidFill>
              </a:rPr>
              <a:t>A implantação deve ser monitorada por acesso, tempo-resposta, antídotos, laboratório, notificações e resolutividade.</a:t>
            </a:r>
            <a:endParaRPr lang="en-US" sz="1120" dirty="0"/>
          </a:p>
        </p:txBody>
      </p:sp>
      <p:sp>
        <p:nvSpPr>
          <p:cNvPr id="26" name="Text 22"/>
          <p:cNvSpPr/>
          <p:nvPr/>
        </p:nvSpPr>
        <p:spPr>
          <a:xfrm>
            <a:off x="685800" y="6181344"/>
            <a:ext cx="10149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i="1" dirty="0">
                <a:solidFill>
                  <a:srgbClr val="7884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Cronograma proposto; sujeito ao modelo escolhido, pactuações e requisitos federais.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2823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6F6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es_mt_logo_t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9728"/>
            <a:ext cx="2057400" cy="566928"/>
          </a:xfrm>
          <a:prstGeom prst="rect">
            <a:avLst/>
          </a:prstGeom>
        </p:spPr>
      </p:pic>
      <p:pic>
        <p:nvPicPr>
          <p:cNvPr id="3" name="Image 1" descr="/mnt/data/cievs_mt_logo_t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55448"/>
            <a:ext cx="1691640" cy="4572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074920" y="118872"/>
            <a:ext cx="393192" cy="39319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5230368" y="187452"/>
            <a:ext cx="8229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5143500" y="274320"/>
            <a:ext cx="256032" cy="822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 rot="720000">
            <a:off x="5468112" y="146304"/>
            <a:ext cx="420624" cy="393192"/>
          </a:xfrm>
          <a:prstGeom prst="arc">
            <a:avLst/>
          </a:prstGeom>
          <a:solidFill>
            <a:srgbClr val="FFFFFF">
              <a:alpha val="0"/>
            </a:srgbClr>
          </a:solidFill>
          <a:ln w="27940">
            <a:solidFill>
              <a:srgbClr val="5B9B3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532120" y="12801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CIATox-MT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5532120" y="393192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90" kern="0" dirty="0">
                <a:solidFill>
                  <a:srgbClr val="5B9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TOXICOLOGIA • VIGILÂNCIA • RESPOSTA</a:t>
            </a:r>
            <a:endParaRPr lang="en-US" sz="680" dirty="0"/>
          </a:p>
        </p:txBody>
      </p:sp>
      <p:sp>
        <p:nvSpPr>
          <p:cNvPr id="10" name="Text 6"/>
          <p:cNvSpPr/>
          <p:nvPr/>
        </p:nvSpPr>
        <p:spPr>
          <a:xfrm>
            <a:off x="685800" y="94183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 Decisão solicitada ao Secretário</a:t>
            </a:r>
            <a:endParaRPr lang="en-US" sz="2500" dirty="0"/>
          </a:p>
        </p:txBody>
      </p:sp>
      <p:sp>
        <p:nvSpPr>
          <p:cNvPr id="11" name="Text 7"/>
          <p:cNvSpPr/>
          <p:nvPr/>
        </p:nvSpPr>
        <p:spPr>
          <a:xfrm>
            <a:off x="685800" y="1389888"/>
            <a:ext cx="10744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Autorização para transformar a oportunidade normativa em projeto estadual estruturado.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1051560" y="1801368"/>
            <a:ext cx="530352" cy="53035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051560" y="194767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1764792" y="1783080"/>
            <a:ext cx="9098280" cy="585216"/>
          </a:xfrm>
          <a:prstGeom prst="roundRect">
            <a:avLst>
              <a:gd name="adj" fmla="val 12500"/>
            </a:avLst>
          </a:prstGeom>
          <a:solidFill>
            <a:srgbClr val="F7FAF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011680" y="19476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1F2933"/>
                </a:solidFill>
              </a:rPr>
              <a:t>Autorizar a elaboração do Projeto Técnico da Rede CIATox-MT.</a:t>
            </a:r>
            <a:endParaRPr lang="en-US" sz="1310" dirty="0"/>
          </a:p>
        </p:txBody>
      </p:sp>
      <p:sp>
        <p:nvSpPr>
          <p:cNvPr id="16" name="Shape 12"/>
          <p:cNvSpPr/>
          <p:nvPr/>
        </p:nvSpPr>
        <p:spPr>
          <a:xfrm>
            <a:off x="1051560" y="2642616"/>
            <a:ext cx="530352" cy="53035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051560" y="2788920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II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1764792" y="2624328"/>
            <a:ext cx="9098280" cy="585216"/>
          </a:xfrm>
          <a:prstGeom prst="roundRect">
            <a:avLst>
              <a:gd name="adj" fmla="val 12500"/>
            </a:avLst>
          </a:prstGeom>
          <a:solidFill>
            <a:srgbClr val="F7FAF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011680" y="278892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1F2933"/>
                </a:solidFill>
              </a:rPr>
              <a:t>Instituir Grupo de Trabalho intersetorial, incluindo os Escritórios Regionais de Saúde.</a:t>
            </a:r>
            <a:endParaRPr lang="en-US" sz="1310" dirty="0"/>
          </a:p>
        </p:txBody>
      </p:sp>
      <p:sp>
        <p:nvSpPr>
          <p:cNvPr id="20" name="Shape 16"/>
          <p:cNvSpPr/>
          <p:nvPr/>
        </p:nvSpPr>
        <p:spPr>
          <a:xfrm>
            <a:off x="1051560" y="3483864"/>
            <a:ext cx="530352" cy="53035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051560" y="3630168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III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1764792" y="3465576"/>
            <a:ext cx="9098280" cy="585216"/>
          </a:xfrm>
          <a:prstGeom prst="roundRect">
            <a:avLst>
              <a:gd name="adj" fmla="val 12500"/>
            </a:avLst>
          </a:prstGeom>
          <a:solidFill>
            <a:srgbClr val="F7FAF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2011680" y="363016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1F2933"/>
                </a:solidFill>
              </a:rPr>
              <a:t>Realizar estudo técnico-econômico dos cenários: fortalecimento, cogestão, reorganização ou novo CIATox estadual.</a:t>
            </a:r>
            <a:endParaRPr lang="en-US" sz="1310" dirty="0"/>
          </a:p>
        </p:txBody>
      </p:sp>
      <p:sp>
        <p:nvSpPr>
          <p:cNvPr id="24" name="Shape 20"/>
          <p:cNvSpPr/>
          <p:nvPr/>
        </p:nvSpPr>
        <p:spPr>
          <a:xfrm>
            <a:off x="1051560" y="4325112"/>
            <a:ext cx="530352" cy="530352"/>
          </a:xfrm>
          <a:prstGeom prst="ellipse">
            <a:avLst/>
          </a:prstGeom>
          <a:solidFill>
            <a:srgbClr val="5B9B3D"/>
          </a:solidFill>
          <a:ln w="12700">
            <a:solidFill>
              <a:srgbClr val="5B9B3D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1051560" y="4471416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IV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1764792" y="4306824"/>
            <a:ext cx="9098280" cy="585216"/>
          </a:xfrm>
          <a:prstGeom prst="roundRect">
            <a:avLst>
              <a:gd name="adj" fmla="val 12500"/>
            </a:avLst>
          </a:prstGeom>
          <a:solidFill>
            <a:srgbClr val="EAF4E6"/>
          </a:solidFill>
          <a:ln w="12700">
            <a:solidFill>
              <a:srgbClr val="5B9B3D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2011680" y="447141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b="1" dirty="0">
                <a:solidFill>
                  <a:srgbClr val="1F2933"/>
                </a:solidFill>
              </a:rPr>
              <a:t>Iniciar tratativas para habilitação e captação dos incentivos federais previstos na Portaria nº 12.151/2026.</a:t>
            </a:r>
            <a:endParaRPr lang="en-US" sz="1310" dirty="0"/>
          </a:p>
        </p:txBody>
      </p:sp>
      <p:sp>
        <p:nvSpPr>
          <p:cNvPr id="28" name="Shape 24"/>
          <p:cNvSpPr/>
          <p:nvPr/>
        </p:nvSpPr>
        <p:spPr>
          <a:xfrm>
            <a:off x="1874520" y="5321808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2148840" y="5522976"/>
            <a:ext cx="7863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CIATox-MT: assistência, vigilância e inteligência toxicológica para todo Mato Grosso.</a:t>
            </a:r>
            <a:endParaRPr lang="en-US" sz="1500" dirty="0"/>
          </a:p>
        </p:txBody>
      </p:sp>
      <p:sp>
        <p:nvSpPr>
          <p:cNvPr id="30" name="Text 26"/>
          <p:cNvSpPr/>
          <p:nvPr/>
        </p:nvSpPr>
        <p:spPr>
          <a:xfrm>
            <a:off x="685800" y="6181344"/>
            <a:ext cx="10149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i="1" dirty="0">
                <a:solidFill>
                  <a:srgbClr val="7884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executiva baseada na Portaria GM/MS nº 12.151/2026 e no modelo de regionalização da SES-MT.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2823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6F6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SES-MT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CIATox-MT – Rede Estadual de Informação, Assistência Toxicológica e Toxicovigilância</dc:title>
  <dc:subject>Projeto CIATox-MT</dc:subject>
  <dc:creator>OpenAI</dc:creator>
  <cp:lastModifiedBy>OpenAI</cp:lastModifiedBy>
  <cp:revision>1</cp:revision>
  <dcterms:created xsi:type="dcterms:W3CDTF">2026-09-16T14:27:24Z</dcterms:created>
  <dcterms:modified xsi:type="dcterms:W3CDTF">2026-09-16T14:27:24Z</dcterms:modified>
</cp:coreProperties>
</file>